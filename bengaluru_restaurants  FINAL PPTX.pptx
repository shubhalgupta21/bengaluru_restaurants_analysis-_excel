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3"/>
    <p:sldId id="26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70" r:id="rId12"/>
    <p:sldId id="268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059EFA5-7342-E659-8D52-08AA974C2316}">
          <p14:sldIdLst>
            <p14:sldId id="256"/>
            <p14:sldId id="267"/>
            <p14:sldId id="258"/>
          </p14:sldIdLst>
        </p14:section>
        <p14:section name="Dashboard 1: Market Overview" id="{F9DF6693-A64D-E336-AAF5-97DAFF34E0D4}">
          <p14:sldIdLst>
            <p14:sldId id="259"/>
            <p14:sldId id="260"/>
          </p14:sldIdLst>
        </p14:section>
        <p14:section name="Dashboard 2: Cuisine &amp; Quality" id="{AD10A467-7B71-5F61-C303-4084F16E8D4F}">
          <p14:sldIdLst>
            <p14:sldId id="261"/>
          </p14:sldIdLst>
        </p14:section>
        <p14:section name="Dashboard 3: Services &amp; Features" id="{381062D0-C927-ED46-24E1-DA898A39FDDD}">
          <p14:sldIdLst>
            <p14:sldId id="263"/>
            <p14:sldId id="264"/>
            <p14:sldId id="265"/>
            <p14:sldId id="270"/>
            <p14:sldId id="268"/>
          </p14:sldIdLst>
        </p14:section>
        <p14:section name="Takeaways" id="{9B9AFF46-F243-3D55-E79F-79D35B6A54F4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4A90E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0B2A5B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560001 - MG Road / Central</c:v>
                </c:pt>
                <c:pt idx="1">
                  <c:v>560038 - Indiranagar</c:v>
                </c:pt>
                <c:pt idx="2">
                  <c:v>560095 - Koramangala 5th-6th Blk</c:v>
                </c:pt>
                <c:pt idx="3">
                  <c:v>560066 - Whitefield</c:v>
                </c:pt>
                <c:pt idx="4">
                  <c:v>560078 - JP Nagar</c:v>
                </c:pt>
                <c:pt idx="5">
                  <c:v>560025 - Residency Road</c:v>
                </c:pt>
                <c:pt idx="6">
                  <c:v>560034 - Koramangala 4th Blk</c:v>
                </c:pt>
                <c:pt idx="7">
                  <c:v>560076 - Bannerghatta Road</c:v>
                </c:pt>
                <c:pt idx="8">
                  <c:v>560043 - Kalyan Nagar</c:v>
                </c:pt>
                <c:pt idx="9">
                  <c:v>560037 - Marathahalli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364</c:v>
                </c:pt>
                <c:pt idx="1">
                  <c:v>339</c:v>
                </c:pt>
                <c:pt idx="2">
                  <c:v>309</c:v>
                </c:pt>
                <c:pt idx="3">
                  <c:v>300</c:v>
                </c:pt>
                <c:pt idx="4">
                  <c:v>297</c:v>
                </c:pt>
                <c:pt idx="5">
                  <c:v>248</c:v>
                </c:pt>
                <c:pt idx="6">
                  <c:v>246</c:v>
                </c:pt>
                <c:pt idx="7">
                  <c:v>238</c:v>
                </c:pt>
                <c:pt idx="8">
                  <c:v>236</c:v>
                </c:pt>
                <c:pt idx="9">
                  <c:v>229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5B7BA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0B2A5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528c7e2-2fb3-41cc-b7e3-ffbeedc6a033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spPr>
            <a:ln w="28575" cap="rnd" cmpd="sng" algn="ctr">
              <a:solidFill>
                <a:srgbClr val="4A90E2"/>
              </a:solidFill>
              <a:prstDash val="solid"/>
              <a:round/>
            </a:ln>
          </c:spPr>
          <c:marker>
            <c:symbol val="circle"/>
            <c:size val="8"/>
            <c:spPr>
              <a:solidFill>
                <a:srgbClr val="FFC928"/>
              </a:solidFill>
              <a:ln w="12700" cap="flat" cmpd="sng" algn="ctr">
                <a:solidFill>
                  <a:srgbClr val="0B2A5B"/>
                </a:solidFill>
                <a:prstDash val="solid"/>
                <a:round/>
              </a:ln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rgbClr val="0B2A5B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Sheet1!$A$2:$A$10</c:f>
              <c:strCache>
                <c:ptCount val="9"/>
                <c:pt idx="0">
                  <c:v>1.0 star</c:v>
                </c:pt>
                <c:pt idx="1">
                  <c:v>1.5 stars</c:v>
                </c:pt>
                <c:pt idx="2">
                  <c:v>2.0 stars</c:v>
                </c:pt>
                <c:pt idx="3">
                  <c:v>2.5 stars</c:v>
                </c:pt>
                <c:pt idx="4">
                  <c:v>3.0 stars</c:v>
                </c:pt>
                <c:pt idx="5">
                  <c:v>3.5 stars</c:v>
                </c:pt>
                <c:pt idx="6">
                  <c:v>4.0 stars</c:v>
                </c:pt>
                <c:pt idx="7">
                  <c:v>4.5 stars</c:v>
                </c:pt>
                <c:pt idx="8">
                  <c:v>5.0 stars</c:v>
                </c:pt>
              </c:strCache>
            </c:strRef>
          </c:cat>
          <c:val>
            <c:numRef>
              <c:f>Sheet1!$B$2:$B$10</c:f>
              <c:numCache>
                <c:formatCode>#,##0</c:formatCode>
                <c:ptCount val="9"/>
                <c:pt idx="0">
                  <c:v>33</c:v>
                </c:pt>
                <c:pt idx="1">
                  <c:v>5</c:v>
                </c:pt>
                <c:pt idx="2">
                  <c:v>58</c:v>
                </c:pt>
                <c:pt idx="3">
                  <c:v>98</c:v>
                </c:pt>
                <c:pt idx="4">
                  <c:v>513</c:v>
                </c:pt>
                <c:pt idx="5">
                  <c:v>884</c:v>
                </c:pt>
                <c:pt idx="6">
                  <c:v>2416</c:v>
                </c:pt>
                <c:pt idx="7">
                  <c:v>856</c:v>
                </c:pt>
                <c:pt idx="8">
                  <c:v>618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5B7BA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0B2A5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00"/>
          <c:min val="0"/>
        </c:scaling>
        <c:delete val="0"/>
        <c:axPos val="l"/>
        <c:majorGridlines>
          <c:spPr>
            <a:ln w="9525" cap="flat" cmpd="sng" algn="ctr">
              <a:solidFill>
                <a:srgbClr val="D6E9FB"/>
              </a:solidFill>
              <a:prstDash val="solid"/>
              <a:round/>
            </a:ln>
          </c:spPr>
        </c:majorGridlines>
        <c:numFmt formatCode="#,##0" sourceLinked="0"/>
        <c:majorTickMark val="none"/>
        <c:minorTickMark val="none"/>
        <c:tickLblPos val="nextTo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5B7BA8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4a1d0ec5-aae7-4bf3-81f6-f30f3a260c27}"/>
      </c:ext>
    </c:extLst>
  </c:chart>
  <c:spPr>
    <a:noFill/>
    <a:ln>
      <a:noFill/>
    </a:ln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4A90E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FFC928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0B2A5B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9DBFE6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0B2A5B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Breakfast</c:v>
                </c:pt>
                <c:pt idx="1">
                  <c:v>Lunch</c:v>
                </c:pt>
                <c:pt idx="2">
                  <c:v>Dinner</c:v>
                </c:pt>
                <c:pt idx="3">
                  <c:v>Brunch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703</c:v>
                </c:pt>
                <c:pt idx="1">
                  <c:v>2223</c:v>
                </c:pt>
                <c:pt idx="2">
                  <c:v>2313</c:v>
                </c:pt>
                <c:pt idx="3">
                  <c:v>491</c:v>
                </c:pt>
              </c:numCache>
            </c:numRef>
          </c:val>
        </c:ser>
        <c:dLbls>
          <c:showLegendKey val="0"/>
          <c:showVal val="1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4be62f9-c565-4512-90ff-504d3689e89c}"/>
      </c:ext>
    </c:extLst>
  </c:chart>
  <c:spPr>
    <a:noFill/>
    <a:ln>
      <a:noFill/>
    </a:ln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4A90E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FFC928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0B2A5B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9DBFE6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0B2A5B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Vegetarian Friendly</c:v>
                </c:pt>
                <c:pt idx="1">
                  <c:v>Halal</c:v>
                </c:pt>
                <c:pt idx="2">
                  <c:v>Vegan Options</c:v>
                </c:pt>
                <c:pt idx="3">
                  <c:v>Gluten Free Options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936</c:v>
                </c:pt>
                <c:pt idx="1">
                  <c:v>142</c:v>
                </c:pt>
                <c:pt idx="2">
                  <c:v>552</c:v>
                </c:pt>
                <c:pt idx="3">
                  <c:v>150</c:v>
                </c:pt>
              </c:numCache>
            </c:numRef>
          </c:val>
        </c:ser>
        <c:dLbls>
          <c:showLegendKey val="0"/>
          <c:showVal val="1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4eba7168-0bc9-4cf3-a98e-0331683cbe7b}"/>
      </c:ext>
    </c:extLst>
  </c:chart>
  <c:spPr>
    <a:noFill/>
    <a:ln>
      <a:noFill/>
    </a:ln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FFC9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0B2A5B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Seating</c:v>
                </c:pt>
                <c:pt idx="1">
                  <c:v>Reservations</c:v>
                </c:pt>
                <c:pt idx="2">
                  <c:v>Table Service</c:v>
                </c:pt>
                <c:pt idx="3">
                  <c:v>Takeout</c:v>
                </c:pt>
                <c:pt idx="4">
                  <c:v>Delivery</c:v>
                </c:pt>
                <c:pt idx="5">
                  <c:v>Parking Available</c:v>
                </c:pt>
                <c:pt idx="6">
                  <c:v>Accepts Credit Cards</c:v>
                </c:pt>
                <c:pt idx="7">
                  <c:v>Serves Alcohol</c:v>
                </c:pt>
                <c:pt idx="8">
                  <c:v>Digital Payments</c:v>
                </c:pt>
                <c:pt idx="9">
                  <c:v>Outdoor Seating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1369</c:v>
                </c:pt>
                <c:pt idx="1">
                  <c:v>1165</c:v>
                </c:pt>
                <c:pt idx="2">
                  <c:v>1135</c:v>
                </c:pt>
                <c:pt idx="3">
                  <c:v>826</c:v>
                </c:pt>
                <c:pt idx="4">
                  <c:v>554</c:v>
                </c:pt>
                <c:pt idx="5">
                  <c:v>487</c:v>
                </c:pt>
                <c:pt idx="6">
                  <c:v>466</c:v>
                </c:pt>
                <c:pt idx="7">
                  <c:v>458</c:v>
                </c:pt>
                <c:pt idx="8">
                  <c:v>328</c:v>
                </c:pt>
                <c:pt idx="9">
                  <c:v>313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5B7BA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0B2A5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0f16137-19ef-48b6-8ca3-a2b9c9c2faed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EA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30" name="Header band"/>
          <p:cNvSpPr/>
          <p:nvPr/>
        </p:nvSpPr>
        <p:spPr>
          <a:xfrm>
            <a:off x="0" y="91440"/>
            <a:ext cx="9144000" cy="914400"/>
          </a:xfrm>
          <a:prstGeom prst="rect">
            <a:avLst/>
          </a:prstGeom>
          <a:solidFill>
            <a:schemeClr val="tx1"/>
          </a:solidFill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chemeClr val="bg1"/>
          </a:solidFill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9718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3" name="Shape 1"/>
          <p:cNvSpPr/>
          <p:nvPr/>
        </p:nvSpPr>
        <p:spPr>
          <a:xfrm>
            <a:off x="0" y="91440"/>
            <a:ext cx="3931920" cy="5052060"/>
          </a:xfrm>
          <a:prstGeom prst="rect">
            <a:avLst/>
          </a:prstGeom>
          <a:solidFill>
            <a:schemeClr val="tx1"/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9718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6"/>
            </a:gs>
            <a:gs pos="0">
              <a:schemeClr val="accent6">
                <a:lumMod val="25000"/>
                <a:lumOff val="75000"/>
              </a:schemeClr>
            </a:gs>
            <a:gs pos="100000">
              <a:schemeClr val="accent6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ext 301"/>
          <p:cNvSpPr txBox="1"/>
          <p:nvPr/>
        </p:nvSpPr>
        <p:spPr>
          <a:xfrm>
            <a:off x="457200" y="1500000"/>
            <a:ext cx="3017520" cy="1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4000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+mn-lt"/>
              </a:rPr>
              <a:t>Bengaluru</a:t>
            </a:r>
            <a:endParaRPr lang="en-US" sz="4000" b="1" dirty="0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+mn-lt"/>
            </a:endParaRPr>
          </a:p>
          <a:p>
            <a:pPr algn="l">
              <a:buNone/>
            </a:pPr>
            <a:r>
              <a:rPr lang="en-US" sz="4000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+mn-lt"/>
              </a:rPr>
              <a:t>Restaurants</a:t>
            </a:r>
            <a:endParaRPr lang="en-US" sz="4000" b="1" dirty="0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+mn-lt"/>
            </a:endParaRPr>
          </a:p>
        </p:txBody>
      </p:sp>
      <p:sp>
        <p:nvSpPr>
          <p:cNvPr id="302" name="Text 302"/>
          <p:cNvSpPr txBox="1"/>
          <p:nvPr/>
        </p:nvSpPr>
        <p:spPr>
          <a:xfrm>
            <a:off x="457200" y="3100000"/>
            <a:ext cx="3017520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200" b="0" dirty="0">
                <a:solidFill>
                  <a:srgbClr val="9DBFE6"/>
                </a:solidFill>
                <a:latin typeface="+mn-lt"/>
              </a:rPr>
              <a:t>Market overview, cuisine quality and service features of the city's restaurant market</a:t>
            </a:r>
            <a:endParaRPr lang="en-US" sz="1200" b="0" dirty="0">
              <a:solidFill>
                <a:srgbClr val="9DBFE6"/>
              </a:solidFill>
              <a:latin typeface="+mn-lt"/>
            </a:endParaRPr>
          </a:p>
        </p:txBody>
      </p:sp>
      <p:sp>
        <p:nvSpPr>
          <p:cNvPr id="303" name="Text 303"/>
          <p:cNvSpPr txBox="1"/>
          <p:nvPr/>
        </p:nvSpPr>
        <p:spPr>
          <a:xfrm>
            <a:off x="457200" y="4500000"/>
            <a:ext cx="3017520" cy="30000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algn="l">
              <a:buNone/>
            </a:pPr>
            <a:r>
              <a:rPr lang="en-US" sz="1000" b="0" dirty="0">
                <a:solidFill>
                  <a:srgbClr val="9DBFE6"/>
                </a:solidFill>
                <a:latin typeface="+mn-lt"/>
              </a:rPr>
              <a:t>Team B327   |   October 2026</a:t>
            </a:r>
            <a:endParaRPr lang="en-US" sz="1000" b="0" dirty="0">
              <a:solidFill>
                <a:srgbClr val="9DBFE6"/>
              </a:solidFill>
              <a:latin typeface="+mn-lt"/>
            </a:endParaRPr>
          </a:p>
        </p:txBody>
      </p:sp>
      <p:sp>
        <p:nvSpPr>
          <p:cNvPr id="304" name="Shape 304"/>
          <p:cNvSpPr/>
          <p:nvPr/>
        </p:nvSpPr>
        <p:spPr>
          <a:xfrm>
            <a:off x="4300000" y="1500000"/>
            <a:ext cx="1350000" cy="1350000"/>
          </a:xfrm>
          <a:prstGeom prst="ellipse">
            <a:avLst/>
          </a:prstGeom>
          <a:solidFill>
            <a:srgbClr val="D6E9F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05" name="Market Overview icon" descr="Market Overview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0000" y="1600000"/>
            <a:ext cx="1150000" cy="1150000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306" name="Text 306"/>
          <p:cNvSpPr txBox="1"/>
          <p:nvPr/>
        </p:nvSpPr>
        <p:spPr>
          <a:xfrm>
            <a:off x="4150000" y="3000000"/>
            <a:ext cx="1650000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B2A5B"/>
                </a:solidFill>
                <a:latin typeface="+mn-lt"/>
              </a:rPr>
              <a:t>Market Overview</a:t>
            </a:r>
            <a:endParaRPr lang="en-US" sz="1200" b="1" dirty="0">
              <a:solidFill>
                <a:srgbClr val="0B2A5B"/>
              </a:solidFill>
              <a:latin typeface="+mn-lt"/>
            </a:endParaRPr>
          </a:p>
        </p:txBody>
      </p:sp>
      <p:sp>
        <p:nvSpPr>
          <p:cNvPr id="307" name="Shape 307"/>
          <p:cNvSpPr/>
          <p:nvPr/>
        </p:nvSpPr>
        <p:spPr>
          <a:xfrm>
            <a:off x="5818400" y="1500000"/>
            <a:ext cx="1350000" cy="1350000"/>
          </a:xfrm>
          <a:prstGeom prst="ellipse">
            <a:avLst/>
          </a:prstGeom>
          <a:solidFill>
            <a:srgbClr val="D6E9F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08" name="Cuisine &amp; Quality icon" descr="Cuisine &amp; Quality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400" y="1600000"/>
            <a:ext cx="1150000" cy="1150000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309" name="Text 309"/>
          <p:cNvSpPr txBox="1"/>
          <p:nvPr/>
        </p:nvSpPr>
        <p:spPr>
          <a:xfrm>
            <a:off x="5668400" y="3000000"/>
            <a:ext cx="1650000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B2A5B"/>
                </a:solidFill>
                <a:latin typeface="+mn-lt"/>
              </a:rPr>
              <a:t>Cuisine &amp; Quality</a:t>
            </a:r>
            <a:endParaRPr lang="en-US" sz="1200" b="1" dirty="0">
              <a:solidFill>
                <a:srgbClr val="0B2A5B"/>
              </a:solidFill>
              <a:latin typeface="+mn-lt"/>
            </a:endParaRPr>
          </a:p>
        </p:txBody>
      </p:sp>
      <p:sp>
        <p:nvSpPr>
          <p:cNvPr id="310" name="Shape 310"/>
          <p:cNvSpPr/>
          <p:nvPr/>
        </p:nvSpPr>
        <p:spPr>
          <a:xfrm>
            <a:off x="7336800" y="1500000"/>
            <a:ext cx="1350000" cy="1350000"/>
          </a:xfrm>
          <a:prstGeom prst="ellipse">
            <a:avLst/>
          </a:prstGeom>
          <a:solidFill>
            <a:srgbClr val="D6E9F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11" name="Services &amp; Features icon" descr="Services &amp; Feature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800" y="1600000"/>
            <a:ext cx="1150000" cy="1150000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312" name="Text 312"/>
          <p:cNvSpPr txBox="1"/>
          <p:nvPr/>
        </p:nvSpPr>
        <p:spPr>
          <a:xfrm>
            <a:off x="7186800" y="3000000"/>
            <a:ext cx="1650000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B2A5B"/>
                </a:solidFill>
                <a:latin typeface="+mn-lt"/>
              </a:rPr>
              <a:t>Services &amp; Features</a:t>
            </a:r>
            <a:endParaRPr lang="en-US" sz="1200" b="1" dirty="0">
              <a:solidFill>
                <a:srgbClr val="0B2A5B"/>
              </a:solidFill>
              <a:latin typeface="+mn-lt"/>
            </a:endParaRPr>
          </a:p>
        </p:txBody>
      </p:sp>
      <p:sp>
        <p:nvSpPr>
          <p:cNvPr id="313" name="Shape 313"/>
          <p:cNvSpPr/>
          <p:nvPr/>
        </p:nvSpPr>
        <p:spPr>
          <a:xfrm>
            <a:off x="5674200" y="2115000"/>
            <a:ext cx="120000" cy="120000"/>
          </a:xfrm>
          <a:prstGeom prst="ellipse">
            <a:avLst/>
          </a:prstGeom>
          <a:solidFill>
            <a:srgbClr val="FFC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314" name="Shape 314"/>
          <p:cNvSpPr/>
          <p:nvPr/>
        </p:nvSpPr>
        <p:spPr>
          <a:xfrm>
            <a:off x="7192600" y="2115000"/>
            <a:ext cx="120000" cy="120000"/>
          </a:xfrm>
          <a:prstGeom prst="ellipse">
            <a:avLst/>
          </a:prstGeom>
          <a:solidFill>
            <a:srgbClr val="FFC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315" name="Text 315"/>
          <p:cNvSpPr txBox="1"/>
          <p:nvPr/>
        </p:nvSpPr>
        <p:spPr>
          <a:xfrm>
            <a:off x="4300000" y="3900000"/>
            <a:ext cx="4386800" cy="3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buNone/>
            </a:pPr>
            <a:r>
              <a:rPr lang="en-US" sz="1300" b="0" dirty="0">
                <a:solidFill>
                  <a:srgbClr val="5B7BA8"/>
                </a:solidFill>
                <a:latin typeface="+mn-lt"/>
              </a:rPr>
              <a:t>Insights for owners, investors and diners</a:t>
            </a:r>
            <a:endParaRPr lang="en-US" sz="1300" b="0" dirty="0">
              <a:solidFill>
                <a:srgbClr val="5B7BA8"/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6"/>
            </a:gs>
            <a:gs pos="0">
              <a:schemeClr val="accent6">
                <a:lumMod val="25000"/>
                <a:lumOff val="75000"/>
              </a:schemeClr>
            </a:gs>
            <a:gs pos="100000">
              <a:schemeClr val="accent6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 txBox="1"/>
          <p:nvPr/>
        </p:nvSpPr>
        <p:spPr>
          <a:xfrm>
            <a:off x="199390" y="15621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r>
              <a:rPr sz="28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Aptos Display"/>
              </a:rPr>
              <a:t>Meet the Team  |  Team B327</a:t>
            </a:r>
            <a:endParaRPr sz="28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Aptos Display"/>
            </a:endParaRPr>
          </a:p>
        </p:txBody>
      </p:sp>
      <p:sp>
        <p:nvSpPr>
          <p:cNvPr id="103" name="Team card 1"/>
          <p:cNvSpPr/>
          <p:nvPr/>
        </p:nvSpPr>
        <p:spPr>
          <a:xfrm>
            <a:off x="457200" y="1280160"/>
            <a:ext cx="2651760" cy="73152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04" name="Team number 1"/>
          <p:cNvSpPr/>
          <p:nvPr/>
        </p:nvSpPr>
        <p:spPr>
          <a:xfrm>
            <a:off x="640080" y="1389888"/>
            <a:ext cx="512064" cy="512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05" name="Team name 1"/>
          <p:cNvSpPr txBox="1"/>
          <p:nvPr/>
        </p:nvSpPr>
        <p:spPr>
          <a:xfrm>
            <a:off x="1325880" y="1371600"/>
            <a:ext cx="1691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/>
            <a:r>
              <a:rPr sz="1600">
                <a:solidFill>
                  <a:srgbClr val="11305B"/>
                </a:solidFill>
                <a:latin typeface="Aptos"/>
              </a:rPr>
              <a:t>Nasrunnisa</a:t>
            </a:r>
            <a:endParaRPr sz="1600">
              <a:solidFill>
                <a:srgbClr val="11305B"/>
              </a:solidFill>
              <a:latin typeface="Aptos"/>
            </a:endParaRPr>
          </a:p>
        </p:txBody>
      </p:sp>
      <p:sp>
        <p:nvSpPr>
          <p:cNvPr id="106" name="Team card 2"/>
          <p:cNvSpPr/>
          <p:nvPr/>
        </p:nvSpPr>
        <p:spPr>
          <a:xfrm>
            <a:off x="3246120" y="1280160"/>
            <a:ext cx="2651760" cy="73152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07" name="Team number 2"/>
          <p:cNvSpPr/>
          <p:nvPr/>
        </p:nvSpPr>
        <p:spPr>
          <a:xfrm>
            <a:off x="3429000" y="1389888"/>
            <a:ext cx="512064" cy="5120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08" name="Team name 2"/>
          <p:cNvSpPr txBox="1"/>
          <p:nvPr/>
        </p:nvSpPr>
        <p:spPr>
          <a:xfrm>
            <a:off x="4114800" y="1371600"/>
            <a:ext cx="1691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/>
            <a:r>
              <a:rPr sz="1600" b="0">
                <a:solidFill>
                  <a:srgbClr val="11305B"/>
                </a:solidFill>
                <a:latin typeface="Aptos"/>
              </a:rPr>
              <a:t>Shubhal</a:t>
            </a:r>
            <a:endParaRPr sz="1600" b="0">
              <a:solidFill>
                <a:srgbClr val="11305B"/>
              </a:solidFill>
              <a:latin typeface="Aptos"/>
            </a:endParaRPr>
          </a:p>
        </p:txBody>
      </p:sp>
      <p:sp>
        <p:nvSpPr>
          <p:cNvPr id="109" name="Team card 3"/>
          <p:cNvSpPr/>
          <p:nvPr/>
        </p:nvSpPr>
        <p:spPr>
          <a:xfrm>
            <a:off x="6035040" y="1280160"/>
            <a:ext cx="2651760" cy="73152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10" name="Team number 3"/>
          <p:cNvSpPr/>
          <p:nvPr/>
        </p:nvSpPr>
        <p:spPr>
          <a:xfrm>
            <a:off x="6217920" y="1389888"/>
            <a:ext cx="512064" cy="51206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11" name="Team name 3"/>
          <p:cNvSpPr txBox="1"/>
          <p:nvPr/>
        </p:nvSpPr>
        <p:spPr>
          <a:xfrm>
            <a:off x="6903720" y="1371600"/>
            <a:ext cx="1691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/>
            <a:r>
              <a:rPr sz="1600" b="0">
                <a:solidFill>
                  <a:srgbClr val="11305B"/>
                </a:solidFill>
                <a:latin typeface="Aptos"/>
              </a:rPr>
              <a:t>Syed Hassan</a:t>
            </a:r>
            <a:endParaRPr sz="1600" b="0">
              <a:solidFill>
                <a:srgbClr val="11305B"/>
              </a:solidFill>
              <a:latin typeface="Aptos"/>
            </a:endParaRPr>
          </a:p>
        </p:txBody>
      </p:sp>
      <p:sp>
        <p:nvSpPr>
          <p:cNvPr id="112" name="Team card 4"/>
          <p:cNvSpPr/>
          <p:nvPr/>
        </p:nvSpPr>
        <p:spPr>
          <a:xfrm>
            <a:off x="457200" y="2148840"/>
            <a:ext cx="2651760" cy="73152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13" name="Team number 4"/>
          <p:cNvSpPr/>
          <p:nvPr/>
        </p:nvSpPr>
        <p:spPr>
          <a:xfrm>
            <a:off x="640080" y="2258568"/>
            <a:ext cx="512064" cy="512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14" name="Team name 4"/>
          <p:cNvSpPr txBox="1"/>
          <p:nvPr/>
        </p:nvSpPr>
        <p:spPr>
          <a:xfrm>
            <a:off x="1325880" y="2240280"/>
            <a:ext cx="1691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/>
            <a:r>
              <a:rPr sz="1600" b="0">
                <a:solidFill>
                  <a:srgbClr val="11305B"/>
                </a:solidFill>
                <a:latin typeface="Aptos"/>
              </a:rPr>
              <a:t>Sanchit</a:t>
            </a:r>
            <a:endParaRPr sz="1600" b="0">
              <a:solidFill>
                <a:srgbClr val="11305B"/>
              </a:solidFill>
              <a:latin typeface="Aptos"/>
            </a:endParaRPr>
          </a:p>
        </p:txBody>
      </p:sp>
      <p:sp>
        <p:nvSpPr>
          <p:cNvPr id="115" name="Team card 5"/>
          <p:cNvSpPr/>
          <p:nvPr/>
        </p:nvSpPr>
        <p:spPr>
          <a:xfrm>
            <a:off x="3246120" y="2148840"/>
            <a:ext cx="2651760" cy="73152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16" name="Team number 5"/>
          <p:cNvSpPr/>
          <p:nvPr/>
        </p:nvSpPr>
        <p:spPr>
          <a:xfrm>
            <a:off x="3429000" y="2258568"/>
            <a:ext cx="512064" cy="5120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17" name="Team name 5"/>
          <p:cNvSpPr txBox="1"/>
          <p:nvPr/>
        </p:nvSpPr>
        <p:spPr>
          <a:xfrm>
            <a:off x="4114800" y="2240280"/>
            <a:ext cx="1691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/>
            <a:r>
              <a:rPr sz="1600" b="0">
                <a:solidFill>
                  <a:srgbClr val="11305B"/>
                </a:solidFill>
                <a:latin typeface="Aptos"/>
              </a:rPr>
              <a:t>Zeeshan</a:t>
            </a:r>
            <a:endParaRPr sz="1600" b="0">
              <a:solidFill>
                <a:srgbClr val="11305B"/>
              </a:solidFill>
              <a:latin typeface="Aptos"/>
            </a:endParaRPr>
          </a:p>
        </p:txBody>
      </p:sp>
      <p:sp>
        <p:nvSpPr>
          <p:cNvPr id="118" name="Team card 6"/>
          <p:cNvSpPr/>
          <p:nvPr/>
        </p:nvSpPr>
        <p:spPr>
          <a:xfrm>
            <a:off x="6035040" y="2148840"/>
            <a:ext cx="2651760" cy="73152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19" name="Team number 6"/>
          <p:cNvSpPr/>
          <p:nvPr/>
        </p:nvSpPr>
        <p:spPr>
          <a:xfrm>
            <a:off x="6217920" y="2258568"/>
            <a:ext cx="512064" cy="51206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20" name="Team name 6"/>
          <p:cNvSpPr txBox="1"/>
          <p:nvPr/>
        </p:nvSpPr>
        <p:spPr>
          <a:xfrm>
            <a:off x="6903720" y="2344420"/>
            <a:ext cx="169164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/>
            <a:r>
              <a:rPr sz="1600" b="0">
                <a:solidFill>
                  <a:srgbClr val="11305B"/>
                </a:solidFill>
                <a:latin typeface="Aptos"/>
              </a:rPr>
              <a:t>I</a:t>
            </a:r>
            <a:r>
              <a:rPr lang="en-US" sz="1600" b="0">
                <a:solidFill>
                  <a:srgbClr val="11305B"/>
                </a:solidFill>
                <a:latin typeface="Aptos"/>
              </a:rPr>
              <a:t>rfa</a:t>
            </a:r>
            <a:r>
              <a:rPr sz="1600" b="0">
                <a:solidFill>
                  <a:srgbClr val="11305B"/>
                </a:solidFill>
                <a:latin typeface="Aptos"/>
              </a:rPr>
              <a:t>n</a:t>
            </a:r>
            <a:r>
              <a:rPr lang="en-US" sz="1600" b="0">
                <a:solidFill>
                  <a:srgbClr val="11305B"/>
                </a:solidFill>
                <a:latin typeface="Aptos"/>
              </a:rPr>
              <a:t>, Multazim</a:t>
            </a:r>
            <a:endParaRPr lang="en-US" sz="1600" b="0">
              <a:solidFill>
                <a:srgbClr val="11305B"/>
              </a:solidFill>
              <a:latin typeface="Aptos"/>
            </a:endParaRPr>
          </a:p>
          <a:p>
            <a:pPr algn="l"/>
            <a:endParaRPr lang="en-US" sz="1600" b="0">
              <a:solidFill>
                <a:srgbClr val="11305B"/>
              </a:solidFill>
              <a:latin typeface="Aptos"/>
            </a:endParaRPr>
          </a:p>
        </p:txBody>
      </p:sp>
      <p:sp>
        <p:nvSpPr>
          <p:cNvPr id="121" name="Team card 7"/>
          <p:cNvSpPr/>
          <p:nvPr/>
        </p:nvSpPr>
        <p:spPr>
          <a:xfrm>
            <a:off x="457200" y="3017520"/>
            <a:ext cx="2651760" cy="73152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22" name="Team number 7"/>
          <p:cNvSpPr/>
          <p:nvPr/>
        </p:nvSpPr>
        <p:spPr>
          <a:xfrm>
            <a:off x="640080" y="3127248"/>
            <a:ext cx="512064" cy="512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7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23" name="Team name 7"/>
          <p:cNvSpPr txBox="1"/>
          <p:nvPr/>
        </p:nvSpPr>
        <p:spPr>
          <a:xfrm>
            <a:off x="1325880" y="3108960"/>
            <a:ext cx="1691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/>
            <a:r>
              <a:rPr sz="1600" b="0">
                <a:solidFill>
                  <a:srgbClr val="11305B"/>
                </a:solidFill>
                <a:latin typeface="Aptos"/>
              </a:rPr>
              <a:t>Avinash</a:t>
            </a:r>
            <a:endParaRPr sz="1600" b="0">
              <a:solidFill>
                <a:srgbClr val="11305B"/>
              </a:solidFill>
              <a:latin typeface="Aptos"/>
            </a:endParaRPr>
          </a:p>
        </p:txBody>
      </p:sp>
      <p:sp>
        <p:nvSpPr>
          <p:cNvPr id="124" name="Team card 8"/>
          <p:cNvSpPr/>
          <p:nvPr/>
        </p:nvSpPr>
        <p:spPr>
          <a:xfrm>
            <a:off x="3246120" y="3017520"/>
            <a:ext cx="2651760" cy="73152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25" name="Team number 8"/>
          <p:cNvSpPr/>
          <p:nvPr/>
        </p:nvSpPr>
        <p:spPr>
          <a:xfrm>
            <a:off x="3429000" y="3127248"/>
            <a:ext cx="512064" cy="5120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26" name="Team name 8"/>
          <p:cNvSpPr txBox="1"/>
          <p:nvPr/>
        </p:nvSpPr>
        <p:spPr>
          <a:xfrm>
            <a:off x="4114800" y="3108960"/>
            <a:ext cx="1691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/>
            <a:r>
              <a:rPr sz="1600" b="0">
                <a:solidFill>
                  <a:srgbClr val="11305B"/>
                </a:solidFill>
                <a:latin typeface="Aptos"/>
              </a:rPr>
              <a:t>Abhilash</a:t>
            </a:r>
            <a:endParaRPr sz="1600" b="0">
              <a:solidFill>
                <a:srgbClr val="11305B"/>
              </a:solidFill>
              <a:latin typeface="Aptos"/>
            </a:endParaRPr>
          </a:p>
        </p:txBody>
      </p:sp>
      <p:sp>
        <p:nvSpPr>
          <p:cNvPr id="127" name="Team card 9"/>
          <p:cNvSpPr/>
          <p:nvPr/>
        </p:nvSpPr>
        <p:spPr>
          <a:xfrm>
            <a:off x="6035040" y="3017520"/>
            <a:ext cx="2651760" cy="73152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28" name="Team number 9"/>
          <p:cNvSpPr/>
          <p:nvPr/>
        </p:nvSpPr>
        <p:spPr>
          <a:xfrm>
            <a:off x="6217920" y="3127248"/>
            <a:ext cx="512064" cy="51206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9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29" name="Team name 9"/>
          <p:cNvSpPr txBox="1"/>
          <p:nvPr/>
        </p:nvSpPr>
        <p:spPr>
          <a:xfrm>
            <a:off x="6903720" y="3108960"/>
            <a:ext cx="1691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/>
            <a:r>
              <a:rPr sz="1600" b="0">
                <a:solidFill>
                  <a:srgbClr val="11305B"/>
                </a:solidFill>
                <a:latin typeface="Aptos"/>
              </a:rPr>
              <a:t>Santosh</a:t>
            </a:r>
            <a:endParaRPr sz="1600" b="0">
              <a:solidFill>
                <a:srgbClr val="11305B"/>
              </a:solidFill>
              <a:latin typeface="Aptos"/>
            </a:endParaRPr>
          </a:p>
        </p:txBody>
      </p:sp>
      <p:sp>
        <p:nvSpPr>
          <p:cNvPr id="130" name="Team card 10"/>
          <p:cNvSpPr/>
          <p:nvPr/>
        </p:nvSpPr>
        <p:spPr>
          <a:xfrm>
            <a:off x="457200" y="3886200"/>
            <a:ext cx="2651760" cy="73152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31" name="Team number 10"/>
          <p:cNvSpPr/>
          <p:nvPr/>
        </p:nvSpPr>
        <p:spPr>
          <a:xfrm>
            <a:off x="640080" y="3995928"/>
            <a:ext cx="512064" cy="512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10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32" name="Team name 10"/>
          <p:cNvSpPr txBox="1"/>
          <p:nvPr/>
        </p:nvSpPr>
        <p:spPr>
          <a:xfrm>
            <a:off x="1325880" y="3977640"/>
            <a:ext cx="1691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/>
            <a:r>
              <a:rPr sz="1600" b="0">
                <a:solidFill>
                  <a:srgbClr val="11305B"/>
                </a:solidFill>
                <a:latin typeface="Aptos"/>
              </a:rPr>
              <a:t>Rahul</a:t>
            </a:r>
            <a:endParaRPr sz="1600" b="0">
              <a:solidFill>
                <a:srgbClr val="11305B"/>
              </a:solidFill>
              <a:latin typeface="Aptos"/>
            </a:endParaRPr>
          </a:p>
        </p:txBody>
      </p:sp>
      <p:sp>
        <p:nvSpPr>
          <p:cNvPr id="133" name="Team card 11"/>
          <p:cNvSpPr/>
          <p:nvPr/>
        </p:nvSpPr>
        <p:spPr>
          <a:xfrm>
            <a:off x="3246120" y="3886200"/>
            <a:ext cx="2651760" cy="73152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34" name="Team number 11"/>
          <p:cNvSpPr/>
          <p:nvPr/>
        </p:nvSpPr>
        <p:spPr>
          <a:xfrm>
            <a:off x="3429000" y="3995928"/>
            <a:ext cx="512064" cy="5120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11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35" name="Team name 11"/>
          <p:cNvSpPr txBox="1"/>
          <p:nvPr/>
        </p:nvSpPr>
        <p:spPr>
          <a:xfrm>
            <a:off x="4114800" y="3977640"/>
            <a:ext cx="1691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/>
            <a:r>
              <a:rPr sz="1600" b="0">
                <a:solidFill>
                  <a:srgbClr val="11305B"/>
                </a:solidFill>
                <a:latin typeface="Aptos"/>
              </a:rPr>
              <a:t>Prabhas</a:t>
            </a:r>
            <a:endParaRPr sz="1600" b="0">
              <a:solidFill>
                <a:srgbClr val="11305B"/>
              </a:solidFill>
              <a:latin typeface="Apto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9718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6"/>
            </a:gs>
            <a:gs pos="0">
              <a:schemeClr val="accent6">
                <a:lumMod val="25000"/>
                <a:lumOff val="75000"/>
              </a:schemeClr>
            </a:gs>
            <a:gs pos="100000">
              <a:schemeClr val="accent6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6855" y="228600"/>
            <a:ext cx="844994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    </a:t>
            </a: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Objective</a:t>
            </a:r>
            <a:endParaRPr lang="en-US" sz="2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ive card 1"/>
          <p:cNvSpPr/>
          <p:nvPr/>
        </p:nvSpPr>
        <p:spPr>
          <a:xfrm>
            <a:off x="457200" y="1280160"/>
            <a:ext cx="1920240" cy="2834640"/>
          </a:xfrm>
          <a:prstGeom prst="roundRect">
            <a:avLst>
              <a:gd name="adj" fmla="val 3810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4" name="Objective icon 1" descr="/home/claude/assets/ic_loc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17320"/>
            <a:ext cx="914400" cy="795528"/>
          </a:xfrm>
          <a:prstGeom prst="rect">
            <a:avLst/>
          </a:prstGeom>
        </p:spPr>
      </p:pic>
      <p:sp>
        <p:nvSpPr>
          <p:cNvPr id="5" name="Objective title 1"/>
          <p:cNvSpPr txBox="1"/>
          <p:nvPr/>
        </p:nvSpPr>
        <p:spPr>
          <a:xfrm>
            <a:off x="594360" y="23774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1. Supply</a:t>
            </a:r>
            <a:endParaRPr lang="en-US" sz="1500" dirty="0"/>
          </a:p>
        </p:txBody>
      </p:sp>
      <p:sp>
        <p:nvSpPr>
          <p:cNvPr id="6" name="Objective text 1"/>
          <p:cNvSpPr txBox="1"/>
          <p:nvPr/>
        </p:nvSpPr>
        <p:spPr>
          <a:xfrm>
            <a:off x="594360" y="2788920"/>
            <a:ext cx="16459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Map restaurants by pincode and cuisine</a:t>
            </a:r>
            <a:endParaRPr lang="en-US" sz="1100" dirty="0"/>
          </a:p>
        </p:txBody>
      </p:sp>
      <p:sp>
        <p:nvSpPr>
          <p:cNvPr id="7" name="Objective card 2"/>
          <p:cNvSpPr/>
          <p:nvPr/>
        </p:nvSpPr>
        <p:spPr>
          <a:xfrm>
            <a:off x="2542032" y="1280160"/>
            <a:ext cx="1920240" cy="2834640"/>
          </a:xfrm>
          <a:prstGeom prst="roundRect">
            <a:avLst>
              <a:gd name="adj" fmla="val 3810"/>
            </a:avLst>
          </a:prstGeom>
          <a:solidFill>
            <a:schemeClr val="accent6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8" name="Objective icon 2" descr="/home/claude/assets/ic_star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2" y="1417320"/>
            <a:ext cx="914400" cy="795528"/>
          </a:xfrm>
          <a:prstGeom prst="rect">
            <a:avLst/>
          </a:prstGeom>
        </p:spPr>
      </p:pic>
      <p:sp>
        <p:nvSpPr>
          <p:cNvPr id="9" name="Objective title 2"/>
          <p:cNvSpPr txBox="1"/>
          <p:nvPr/>
        </p:nvSpPr>
        <p:spPr>
          <a:xfrm>
            <a:off x="2679192" y="23774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2. Quality</a:t>
            </a:r>
            <a:endParaRPr lang="en-US" sz="1500" dirty="0"/>
          </a:p>
        </p:txBody>
      </p:sp>
      <p:sp>
        <p:nvSpPr>
          <p:cNvPr id="10" name="Objective text 2"/>
          <p:cNvSpPr txBox="1"/>
          <p:nvPr/>
        </p:nvSpPr>
        <p:spPr>
          <a:xfrm>
            <a:off x="2679192" y="2788920"/>
            <a:ext cx="16459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Measure ratings and review volume</a:t>
            </a:r>
            <a:endParaRPr lang="en-US" sz="1100" dirty="0"/>
          </a:p>
        </p:txBody>
      </p:sp>
      <p:sp>
        <p:nvSpPr>
          <p:cNvPr id="11" name="Objective card 3"/>
          <p:cNvSpPr/>
          <p:nvPr/>
        </p:nvSpPr>
        <p:spPr>
          <a:xfrm>
            <a:off x="4626864" y="1280160"/>
            <a:ext cx="1920240" cy="28346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12" name="Objective icon 3" descr="/home/claude/assets/ic_cuis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784" y="1417320"/>
            <a:ext cx="914400" cy="795528"/>
          </a:xfrm>
          <a:prstGeom prst="rect">
            <a:avLst/>
          </a:prstGeom>
        </p:spPr>
      </p:pic>
      <p:sp>
        <p:nvSpPr>
          <p:cNvPr id="13" name="Objective title 3"/>
          <p:cNvSpPr txBox="1"/>
          <p:nvPr/>
        </p:nvSpPr>
        <p:spPr>
          <a:xfrm>
            <a:off x="4764024" y="23774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3. Services</a:t>
            </a:r>
            <a:endParaRPr lang="en-US" sz="1500" dirty="0"/>
          </a:p>
        </p:txBody>
      </p:sp>
      <p:sp>
        <p:nvSpPr>
          <p:cNvPr id="14" name="Objective text 3"/>
          <p:cNvSpPr txBox="1"/>
          <p:nvPr/>
        </p:nvSpPr>
        <p:spPr>
          <a:xfrm>
            <a:off x="4764024" y="2788920"/>
            <a:ext cx="16459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Find popular meal slots, diets and features</a:t>
            </a:r>
            <a:endParaRPr lang="en-US" sz="1100" dirty="0"/>
          </a:p>
        </p:txBody>
      </p:sp>
      <p:sp>
        <p:nvSpPr>
          <p:cNvPr id="15" name="Objective card 4"/>
          <p:cNvSpPr/>
          <p:nvPr/>
        </p:nvSpPr>
        <p:spPr>
          <a:xfrm>
            <a:off x="6711696" y="1280160"/>
            <a:ext cx="1920240" cy="2834640"/>
          </a:xfrm>
          <a:prstGeom prst="roundRect">
            <a:avLst>
              <a:gd name="adj" fmla="val 3810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16" name="Objective icon 4" descr="/home/claude/assets/ic_happ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616" y="1417320"/>
            <a:ext cx="914400" cy="795528"/>
          </a:xfrm>
          <a:prstGeom prst="rect">
            <a:avLst/>
          </a:prstGeom>
        </p:spPr>
      </p:pic>
      <p:sp>
        <p:nvSpPr>
          <p:cNvPr id="17" name="Objective title 4"/>
          <p:cNvSpPr txBox="1"/>
          <p:nvPr/>
        </p:nvSpPr>
        <p:spPr>
          <a:xfrm>
            <a:off x="6848856" y="23774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4. Decisions</a:t>
            </a:r>
            <a:endParaRPr lang="en-US" sz="1500" dirty="0"/>
          </a:p>
        </p:txBody>
      </p:sp>
      <p:sp>
        <p:nvSpPr>
          <p:cNvPr id="18" name="Objective text 4"/>
          <p:cNvSpPr txBox="1"/>
          <p:nvPr/>
        </p:nvSpPr>
        <p:spPr>
          <a:xfrm>
            <a:off x="6848856" y="2788920"/>
            <a:ext cx="16459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One filterable Excel dashboard for owners and investors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9718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1794510" y="54737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6"/>
            </a:gs>
            <a:gs pos="0">
              <a:schemeClr val="accent6">
                <a:lumMod val="25000"/>
                <a:lumOff val="75000"/>
              </a:schemeClr>
            </a:gs>
            <a:gs pos="100000">
              <a:schemeClr val="accent6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7650" y="228600"/>
            <a:ext cx="843915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  </a:t>
            </a: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Market Overview</a:t>
            </a:r>
            <a:endParaRPr lang="en-US" sz="2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Q1 card"/>
          <p:cNvSpPr/>
          <p:nvPr/>
        </p:nvSpPr>
        <p:spPr>
          <a:xfrm>
            <a:off x="457200" y="1554480"/>
            <a:ext cx="2606040" cy="2697480"/>
          </a:xfrm>
          <a:prstGeom prst="roundRect">
            <a:avLst>
              <a:gd name="adj" fmla="val 2807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4" name="Q1 icon" descr="/home/claude/assets/ic_loc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441575"/>
            <a:ext cx="868680" cy="758952"/>
          </a:xfrm>
          <a:prstGeom prst="rect">
            <a:avLst/>
          </a:prstGeom>
        </p:spPr>
      </p:pic>
      <p:sp>
        <p:nvSpPr>
          <p:cNvPr id="5" name="Q1 value"/>
          <p:cNvSpPr txBox="1"/>
          <p:nvPr/>
        </p:nvSpPr>
        <p:spPr>
          <a:xfrm>
            <a:off x="640080" y="3200400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1"/>
                </a:solidFill>
              </a:rPr>
              <a:t>9,291</a:t>
            </a:r>
            <a:endParaRPr lang="en-US" sz="3200" dirty="0"/>
          </a:p>
        </p:txBody>
      </p:sp>
      <p:sp>
        <p:nvSpPr>
          <p:cNvPr id="6" name="Q1 label"/>
          <p:cNvSpPr txBox="1"/>
          <p:nvPr/>
        </p:nvSpPr>
        <p:spPr>
          <a:xfrm>
            <a:off x="640080" y="173736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/>
              <a:t>No. of Restaurants listed in Bengaluru</a:t>
            </a:r>
            <a:endParaRPr lang="en-US" sz="1600" b="1" dirty="0"/>
          </a:p>
        </p:txBody>
      </p:sp>
      <p:sp>
        <p:nvSpPr>
          <p:cNvPr id="8" name="Q2 card"/>
          <p:cNvSpPr/>
          <p:nvPr/>
        </p:nvSpPr>
        <p:spPr>
          <a:xfrm>
            <a:off x="3268980" y="1554480"/>
            <a:ext cx="2606040" cy="2697480"/>
          </a:xfrm>
          <a:prstGeom prst="roundRect">
            <a:avLst>
              <a:gd name="adj" fmla="val 2807"/>
            </a:avLst>
          </a:prstGeom>
          <a:solidFill>
            <a:schemeClr val="accent6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9" name="Q2 icon" descr="/home/claude/assets/ic_star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1130" y="2441575"/>
            <a:ext cx="868680" cy="758952"/>
          </a:xfrm>
          <a:prstGeom prst="rect">
            <a:avLst/>
          </a:prstGeom>
        </p:spPr>
      </p:pic>
      <p:sp>
        <p:nvSpPr>
          <p:cNvPr id="10" name="Q2 value"/>
          <p:cNvSpPr txBox="1"/>
          <p:nvPr/>
        </p:nvSpPr>
        <p:spPr>
          <a:xfrm>
            <a:off x="3386455" y="3273425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1"/>
                </a:solidFill>
              </a:rPr>
              <a:t>5,481</a:t>
            </a:r>
            <a:endParaRPr lang="en-US" sz="3200" dirty="0"/>
          </a:p>
        </p:txBody>
      </p:sp>
      <p:sp>
        <p:nvSpPr>
          <p:cNvPr id="11" name="Q2 label"/>
          <p:cNvSpPr txBox="1"/>
          <p:nvPr/>
        </p:nvSpPr>
        <p:spPr>
          <a:xfrm>
            <a:off x="3360420" y="168910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Restaurants which are rated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3" name="Q3 card"/>
          <p:cNvSpPr/>
          <p:nvPr/>
        </p:nvSpPr>
        <p:spPr>
          <a:xfrm>
            <a:off x="6080760" y="1554480"/>
            <a:ext cx="2606040" cy="269748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14" name="Q3 icon" descr="/home/claude/assets/ic_revie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441575"/>
            <a:ext cx="868680" cy="758952"/>
          </a:xfrm>
          <a:prstGeom prst="rect">
            <a:avLst/>
          </a:prstGeom>
        </p:spPr>
      </p:pic>
      <p:sp>
        <p:nvSpPr>
          <p:cNvPr id="15" name="Q3 value"/>
          <p:cNvSpPr txBox="1"/>
          <p:nvPr/>
        </p:nvSpPr>
        <p:spPr>
          <a:xfrm>
            <a:off x="6263640" y="3351530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1"/>
                </a:solidFill>
              </a:rPr>
              <a:t>135,084</a:t>
            </a:r>
            <a:endParaRPr lang="en-US" sz="3200" dirty="0"/>
          </a:p>
        </p:txBody>
      </p:sp>
      <p:sp>
        <p:nvSpPr>
          <p:cNvPr id="16" name="Q3 label"/>
          <p:cNvSpPr txBox="1"/>
          <p:nvPr/>
        </p:nvSpPr>
        <p:spPr>
          <a:xfrm>
            <a:off x="6080760" y="168910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Total reviews 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9718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5"/>
            </a:gs>
            <a:gs pos="0">
              <a:schemeClr val="accent5">
                <a:lumMod val="25000"/>
                <a:lumOff val="75000"/>
              </a:schemeClr>
            </a:gs>
            <a:gs pos="100000">
              <a:schemeClr val="accent5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Top 10 pincodes and overall ratings for restaurants</a:t>
            </a:r>
            <a:endParaRPr lang="en-US" sz="2100" b="1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Chart caption"/>
          <p:cNvSpPr txBox="1"/>
          <p:nvPr/>
        </p:nvSpPr>
        <p:spPr>
          <a:xfrm>
            <a:off x="457200" y="105156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Top 10 pincodes by number of restaurants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28016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Chart caption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Rating distribution, 1.0 to 5.0 (rated restaurants)</a:t>
            </a:r>
            <a:endParaRPr lang="en-US" sz="11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4572000" y="1280160"/>
          <a:ext cx="42062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Band 1 chip"/>
          <p:cNvSpPr/>
          <p:nvPr/>
        </p:nvSpPr>
        <p:spPr>
          <a:xfrm>
            <a:off x="457200" y="4114800"/>
            <a:ext cx="192024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8" name="Band 1 big"/>
          <p:cNvSpPr txBox="1"/>
          <p:nvPr/>
        </p:nvSpPr>
        <p:spPr>
          <a:xfrm>
            <a:off x="457200" y="4151376"/>
            <a:ext cx="1920240" cy="3520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3.5%</a:t>
            </a:r>
            <a:endParaRPr lang="en-US" sz="1800" dirty="0"/>
          </a:p>
        </p:txBody>
      </p:sp>
      <p:sp>
        <p:nvSpPr>
          <p:cNvPr id="9" name="Band 1 small"/>
          <p:cNvSpPr txBox="1"/>
          <p:nvPr/>
        </p:nvSpPr>
        <p:spPr>
          <a:xfrm>
            <a:off x="457200" y="446684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</a:rPr>
              <a:t>rated Below 3.0 (194)</a:t>
            </a:r>
            <a:endParaRPr lang="en-US" sz="900" dirty="0"/>
          </a:p>
        </p:txBody>
      </p:sp>
      <p:sp>
        <p:nvSpPr>
          <p:cNvPr id="10" name="Band 2 chip"/>
          <p:cNvSpPr/>
          <p:nvPr/>
        </p:nvSpPr>
        <p:spPr>
          <a:xfrm>
            <a:off x="2542032" y="4114800"/>
            <a:ext cx="1920240" cy="640080"/>
          </a:xfrm>
          <a:prstGeom prst="roundRect">
            <a:avLst>
              <a:gd name="adj" fmla="val 8571"/>
            </a:avLst>
          </a:prstGeom>
          <a:solidFill>
            <a:schemeClr val="accent6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1" name="Band 2 big"/>
          <p:cNvSpPr txBox="1"/>
          <p:nvPr/>
        </p:nvSpPr>
        <p:spPr>
          <a:xfrm>
            <a:off x="2542032" y="4151376"/>
            <a:ext cx="1920240" cy="3520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25.5%</a:t>
            </a:r>
            <a:endParaRPr lang="en-US" sz="1800" dirty="0"/>
          </a:p>
        </p:txBody>
      </p:sp>
      <p:sp>
        <p:nvSpPr>
          <p:cNvPr id="12" name="Band 2 small"/>
          <p:cNvSpPr txBox="1"/>
          <p:nvPr/>
        </p:nvSpPr>
        <p:spPr>
          <a:xfrm>
            <a:off x="2542032" y="446684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</a:rPr>
              <a:t>rated 3.0 - 3.9 (1,397)</a:t>
            </a:r>
            <a:endParaRPr lang="en-US" sz="900" dirty="0"/>
          </a:p>
        </p:txBody>
      </p:sp>
      <p:sp>
        <p:nvSpPr>
          <p:cNvPr id="13" name="Band 3 chip"/>
          <p:cNvSpPr/>
          <p:nvPr/>
        </p:nvSpPr>
        <p:spPr>
          <a:xfrm>
            <a:off x="4626864" y="4114800"/>
            <a:ext cx="1920240" cy="640080"/>
          </a:xfrm>
          <a:prstGeom prst="roundRect">
            <a:avLst>
              <a:gd name="adj" fmla="val 8571"/>
            </a:avLst>
          </a:prstGeom>
          <a:solidFill>
            <a:schemeClr val="accent3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4" name="Band 3 big"/>
          <p:cNvSpPr txBox="1"/>
          <p:nvPr/>
        </p:nvSpPr>
        <p:spPr>
          <a:xfrm>
            <a:off x="4626864" y="4151376"/>
            <a:ext cx="1920240" cy="3520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44.1%</a:t>
            </a:r>
            <a:endParaRPr lang="en-US" sz="1800" dirty="0"/>
          </a:p>
        </p:txBody>
      </p:sp>
      <p:sp>
        <p:nvSpPr>
          <p:cNvPr id="15" name="Band 3 small"/>
          <p:cNvSpPr txBox="1"/>
          <p:nvPr/>
        </p:nvSpPr>
        <p:spPr>
          <a:xfrm>
            <a:off x="4626864" y="446684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</a:rPr>
              <a:t>rated 4.0 - 4.4 (2,416)</a:t>
            </a:r>
            <a:endParaRPr lang="en-US" sz="900" dirty="0"/>
          </a:p>
        </p:txBody>
      </p:sp>
      <p:sp>
        <p:nvSpPr>
          <p:cNvPr id="16" name="Band 4 chip"/>
          <p:cNvSpPr/>
          <p:nvPr/>
        </p:nvSpPr>
        <p:spPr>
          <a:xfrm>
            <a:off x="6711696" y="4114800"/>
            <a:ext cx="1920240" cy="640080"/>
          </a:xfrm>
          <a:prstGeom prst="roundRect">
            <a:avLst>
              <a:gd name="adj" fmla="val 8571"/>
            </a:avLst>
          </a:prstGeom>
          <a:solidFill>
            <a:schemeClr val="accent5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7" name="Band 4 big"/>
          <p:cNvSpPr txBox="1"/>
          <p:nvPr/>
        </p:nvSpPr>
        <p:spPr>
          <a:xfrm>
            <a:off x="6711696" y="4151376"/>
            <a:ext cx="1920240" cy="3520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26.9%</a:t>
            </a:r>
            <a:endParaRPr lang="en-US" sz="1800" dirty="0"/>
          </a:p>
        </p:txBody>
      </p:sp>
      <p:sp>
        <p:nvSpPr>
          <p:cNvPr id="18" name="Band 4 small"/>
          <p:cNvSpPr txBox="1"/>
          <p:nvPr/>
        </p:nvSpPr>
        <p:spPr>
          <a:xfrm>
            <a:off x="6711696" y="446684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</a:rPr>
              <a:t>rated 4.5 - 5.0 (1,474)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9718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6"/>
            </a:gs>
            <a:gs pos="0">
              <a:schemeClr val="accent6">
                <a:lumMod val="25000"/>
                <a:lumOff val="75000"/>
              </a:schemeClr>
            </a:gs>
            <a:gs pos="100000">
              <a:schemeClr val="accent6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    </a:t>
            </a: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Cuisine and Quality</a:t>
            </a:r>
            <a:endParaRPr lang="en-US" sz="2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Q6 card"/>
          <p:cNvSpPr/>
          <p:nvPr/>
        </p:nvSpPr>
        <p:spPr>
          <a:xfrm>
            <a:off x="457200" y="1554480"/>
            <a:ext cx="2606040" cy="2697480"/>
          </a:xfrm>
          <a:prstGeom prst="roundRect">
            <a:avLst>
              <a:gd name="adj" fmla="val 2807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4" name="Q6 icon" descr="/home/claude/assets/ic_avgrat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868680" cy="758952"/>
          </a:xfrm>
          <a:prstGeom prst="rect">
            <a:avLst/>
          </a:prstGeom>
        </p:spPr>
      </p:pic>
      <p:sp>
        <p:nvSpPr>
          <p:cNvPr id="5" name="Q6 value"/>
          <p:cNvSpPr txBox="1"/>
          <p:nvPr/>
        </p:nvSpPr>
        <p:spPr>
          <a:xfrm>
            <a:off x="640080" y="2560320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3.95</a:t>
            </a:r>
            <a:endParaRPr lang="en-US" sz="3200" dirty="0"/>
          </a:p>
        </p:txBody>
      </p:sp>
      <p:sp>
        <p:nvSpPr>
          <p:cNvPr id="6" name="Q6 label"/>
          <p:cNvSpPr txBox="1"/>
          <p:nvPr/>
        </p:nvSpPr>
        <p:spPr>
          <a:xfrm>
            <a:off x="640080" y="320040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Average rating across all rated restaurants</a:t>
            </a:r>
            <a:endParaRPr lang="en-US" sz="1100" dirty="0"/>
          </a:p>
        </p:txBody>
      </p:sp>
      <p:sp>
        <p:nvSpPr>
          <p:cNvPr id="7" name="Q6 sub"/>
          <p:cNvSpPr txBox="1"/>
          <p:nvPr/>
        </p:nvSpPr>
        <p:spPr>
          <a:xfrm>
            <a:off x="640080" y="37033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Based on 5,481 rated restaurants</a:t>
            </a:r>
            <a:endParaRPr lang="en-US" sz="1000" dirty="0"/>
          </a:p>
        </p:txBody>
      </p:sp>
      <p:sp>
        <p:nvSpPr>
          <p:cNvPr id="8" name="Q7 card"/>
          <p:cNvSpPr/>
          <p:nvPr/>
        </p:nvSpPr>
        <p:spPr>
          <a:xfrm>
            <a:off x="3268980" y="1554480"/>
            <a:ext cx="2606040" cy="2697480"/>
          </a:xfrm>
          <a:prstGeom prst="roundRect">
            <a:avLst>
              <a:gd name="adj" fmla="val 2807"/>
            </a:avLst>
          </a:prstGeom>
          <a:solidFill>
            <a:schemeClr val="accent6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9" name="Q7 icon" descr="/home/claude/assets/ic_star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1737360"/>
            <a:ext cx="868680" cy="758952"/>
          </a:xfrm>
          <a:prstGeom prst="rect">
            <a:avLst/>
          </a:prstGeom>
        </p:spPr>
      </p:pic>
      <p:sp>
        <p:nvSpPr>
          <p:cNvPr id="10" name="Q7 value"/>
          <p:cNvSpPr txBox="1"/>
          <p:nvPr/>
        </p:nvSpPr>
        <p:spPr>
          <a:xfrm>
            <a:off x="3451860" y="2560320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26.9%</a:t>
            </a:r>
            <a:endParaRPr lang="en-US" sz="3200" dirty="0"/>
          </a:p>
        </p:txBody>
      </p:sp>
      <p:sp>
        <p:nvSpPr>
          <p:cNvPr id="11" name="Q7 label"/>
          <p:cNvSpPr txBox="1"/>
          <p:nvPr/>
        </p:nvSpPr>
        <p:spPr>
          <a:xfrm>
            <a:off x="3451860" y="320040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% of rated restaurants scoring 4.5 or higher</a:t>
            </a:r>
            <a:endParaRPr lang="en-US" sz="1100" dirty="0"/>
          </a:p>
        </p:txBody>
      </p:sp>
      <p:sp>
        <p:nvSpPr>
          <p:cNvPr id="12" name="Q7 sub"/>
          <p:cNvSpPr txBox="1"/>
          <p:nvPr/>
        </p:nvSpPr>
        <p:spPr>
          <a:xfrm>
            <a:off x="3451860" y="37033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1,474 restaurants</a:t>
            </a:r>
            <a:endParaRPr lang="en-US" sz="1000" dirty="0"/>
          </a:p>
        </p:txBody>
      </p:sp>
      <p:sp>
        <p:nvSpPr>
          <p:cNvPr id="13" name="Q8 card"/>
          <p:cNvSpPr/>
          <p:nvPr/>
        </p:nvSpPr>
        <p:spPr>
          <a:xfrm>
            <a:off x="6080760" y="1554480"/>
            <a:ext cx="2606040" cy="269748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14" name="Q8 icon" descr="/home/claude/assets/ic_ha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37360"/>
            <a:ext cx="868680" cy="758952"/>
          </a:xfrm>
          <a:prstGeom prst="rect">
            <a:avLst/>
          </a:prstGeom>
        </p:spPr>
      </p:pic>
      <p:sp>
        <p:nvSpPr>
          <p:cNvPr id="15" name="Q8 value"/>
          <p:cNvSpPr txBox="1"/>
          <p:nvPr/>
        </p:nvSpPr>
        <p:spPr>
          <a:xfrm>
            <a:off x="6263640" y="2560320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272</a:t>
            </a:r>
            <a:endParaRPr lang="en-US" sz="3200" dirty="0"/>
          </a:p>
        </p:txBody>
      </p:sp>
      <p:sp>
        <p:nvSpPr>
          <p:cNvPr id="16" name="Q8 label"/>
          <p:cNvSpPr txBox="1"/>
          <p:nvPr/>
        </p:nvSpPr>
        <p:spPr>
          <a:xfrm>
            <a:off x="6263640" y="320040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Popular restaurants (100 or more reviews)</a:t>
            </a:r>
            <a:endParaRPr lang="en-US" sz="1100" dirty="0"/>
          </a:p>
        </p:txBody>
      </p:sp>
      <p:sp>
        <p:nvSpPr>
          <p:cNvPr id="17" name="Q8 sub"/>
          <p:cNvSpPr txBox="1"/>
          <p:nvPr/>
        </p:nvSpPr>
        <p:spPr>
          <a:xfrm>
            <a:off x="6263640" y="37033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2.9% of all listings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9718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2" name="Text Box 31"/>
          <p:cNvSpPr txBox="1"/>
          <p:nvPr/>
        </p:nvSpPr>
        <p:spPr>
          <a:xfrm>
            <a:off x="3113405" y="56959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6"/>
            </a:gs>
            <a:gs pos="0">
              <a:schemeClr val="accent6">
                <a:lumMod val="25000"/>
                <a:lumOff val="75000"/>
              </a:schemeClr>
            </a:gs>
            <a:gs pos="100000">
              <a:schemeClr val="accent6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7320" y="228600"/>
            <a:ext cx="8539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   </a:t>
            </a: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Services and Features</a:t>
            </a:r>
            <a:endParaRPr lang="en-US" sz="2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Q11 card"/>
          <p:cNvSpPr/>
          <p:nvPr/>
        </p:nvSpPr>
        <p:spPr>
          <a:xfrm>
            <a:off x="457200" y="1554480"/>
            <a:ext cx="2606040" cy="2697480"/>
          </a:xfrm>
          <a:prstGeom prst="roundRect">
            <a:avLst>
              <a:gd name="adj" fmla="val 2807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4" name="Q11 icon" descr="/home/claude/assets/ic_ve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868680" cy="758952"/>
          </a:xfrm>
          <a:prstGeom prst="rect">
            <a:avLst/>
          </a:prstGeom>
        </p:spPr>
      </p:pic>
      <p:sp>
        <p:nvSpPr>
          <p:cNvPr id="5" name="Q11 value"/>
          <p:cNvSpPr txBox="1"/>
          <p:nvPr/>
        </p:nvSpPr>
        <p:spPr>
          <a:xfrm>
            <a:off x="640080" y="2560320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10.1%</a:t>
            </a:r>
            <a:endParaRPr lang="en-US" sz="3200" dirty="0"/>
          </a:p>
        </p:txBody>
      </p:sp>
      <p:sp>
        <p:nvSpPr>
          <p:cNvPr id="6" name="Q11 label"/>
          <p:cNvSpPr txBox="1"/>
          <p:nvPr/>
        </p:nvSpPr>
        <p:spPr>
          <a:xfrm>
            <a:off x="640080" y="320040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Vegetarian friendly restaurants</a:t>
            </a:r>
            <a:endParaRPr lang="en-US" sz="1100" dirty="0"/>
          </a:p>
        </p:txBody>
      </p:sp>
      <p:sp>
        <p:nvSpPr>
          <p:cNvPr id="7" name="Q11 sub"/>
          <p:cNvSpPr txBox="1"/>
          <p:nvPr/>
        </p:nvSpPr>
        <p:spPr>
          <a:xfrm>
            <a:off x="640080" y="37033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936 restaurants</a:t>
            </a:r>
            <a:endParaRPr lang="en-US" sz="1000" dirty="0"/>
          </a:p>
        </p:txBody>
      </p:sp>
      <p:sp>
        <p:nvSpPr>
          <p:cNvPr id="8" name="Q12 card"/>
          <p:cNvSpPr/>
          <p:nvPr/>
        </p:nvSpPr>
        <p:spPr>
          <a:xfrm>
            <a:off x="3268980" y="1554480"/>
            <a:ext cx="2606040" cy="2697480"/>
          </a:xfrm>
          <a:prstGeom prst="roundRect">
            <a:avLst>
              <a:gd name="adj" fmla="val 2807"/>
            </a:avLst>
          </a:prstGeom>
          <a:solidFill>
            <a:schemeClr val="accent6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9" name="Q12 icon" descr="/home/claude/assets/ic_rese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1737360"/>
            <a:ext cx="868680" cy="758952"/>
          </a:xfrm>
          <a:prstGeom prst="rect">
            <a:avLst/>
          </a:prstGeom>
        </p:spPr>
      </p:pic>
      <p:sp>
        <p:nvSpPr>
          <p:cNvPr id="10" name="Q12 value"/>
          <p:cNvSpPr txBox="1"/>
          <p:nvPr/>
        </p:nvSpPr>
        <p:spPr>
          <a:xfrm>
            <a:off x="3451860" y="2560320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12.5%</a:t>
            </a:r>
            <a:endParaRPr lang="en-US" sz="3200" dirty="0"/>
          </a:p>
        </p:txBody>
      </p:sp>
      <p:sp>
        <p:nvSpPr>
          <p:cNvPr id="11" name="Q12 label"/>
          <p:cNvSpPr txBox="1"/>
          <p:nvPr/>
        </p:nvSpPr>
        <p:spPr>
          <a:xfrm>
            <a:off x="3451860" y="320040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Restaurants that accept reservations</a:t>
            </a:r>
            <a:endParaRPr lang="en-US" sz="1100" dirty="0"/>
          </a:p>
        </p:txBody>
      </p:sp>
      <p:sp>
        <p:nvSpPr>
          <p:cNvPr id="12" name="Q12 sub"/>
          <p:cNvSpPr txBox="1"/>
          <p:nvPr/>
        </p:nvSpPr>
        <p:spPr>
          <a:xfrm>
            <a:off x="3451860" y="37033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1,165 restaurants</a:t>
            </a:r>
            <a:endParaRPr lang="en-US" sz="1000" dirty="0"/>
          </a:p>
        </p:txBody>
      </p:sp>
      <p:sp>
        <p:nvSpPr>
          <p:cNvPr id="13" name="Q13 card"/>
          <p:cNvSpPr/>
          <p:nvPr/>
        </p:nvSpPr>
        <p:spPr>
          <a:xfrm>
            <a:off x="6080760" y="1554480"/>
            <a:ext cx="2606040" cy="269748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14" name="Q13 icon" descr="/home/claude/assets/ic_deliv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37360"/>
            <a:ext cx="868680" cy="758952"/>
          </a:xfrm>
          <a:prstGeom prst="rect">
            <a:avLst/>
          </a:prstGeom>
        </p:spPr>
      </p:pic>
      <p:sp>
        <p:nvSpPr>
          <p:cNvPr id="15" name="Q13 value"/>
          <p:cNvSpPr txBox="1"/>
          <p:nvPr/>
        </p:nvSpPr>
        <p:spPr>
          <a:xfrm>
            <a:off x="6263640" y="2560320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9.8%</a:t>
            </a:r>
            <a:endParaRPr lang="en-US" sz="3200" dirty="0"/>
          </a:p>
        </p:txBody>
      </p:sp>
      <p:sp>
        <p:nvSpPr>
          <p:cNvPr id="16" name="Q13 label"/>
          <p:cNvSpPr txBox="1"/>
          <p:nvPr/>
        </p:nvSpPr>
        <p:spPr>
          <a:xfrm>
            <a:off x="6263640" y="320040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Restaurants offering delivery or takeout</a:t>
            </a:r>
            <a:endParaRPr lang="en-US" sz="1100" dirty="0"/>
          </a:p>
        </p:txBody>
      </p:sp>
      <p:sp>
        <p:nvSpPr>
          <p:cNvPr id="17" name="Q13 sub"/>
          <p:cNvSpPr txBox="1"/>
          <p:nvPr/>
        </p:nvSpPr>
        <p:spPr>
          <a:xfrm>
            <a:off x="6263640" y="37033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554 delivery, 826 takeout, 468 both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9718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5"/>
            </a:gs>
            <a:gs pos="0">
              <a:schemeClr val="accent5">
                <a:lumMod val="25000"/>
                <a:lumOff val="75000"/>
              </a:schemeClr>
            </a:gs>
            <a:gs pos="100000">
              <a:schemeClr val="accent5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Meal coverage and dietary options provided by 9291 listings.</a:t>
            </a:r>
            <a:endParaRPr lang="en-US" sz="2100" dirty="0"/>
          </a:p>
        </p:txBody>
      </p:sp>
      <p:sp>
        <p:nvSpPr>
          <p:cNvPr id="3" name="Chart caption"/>
          <p:cNvSpPr txBox="1"/>
          <p:nvPr/>
        </p:nvSpPr>
        <p:spPr>
          <a:xfrm>
            <a:off x="457200" y="105156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Restaurants serving each meal slot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28016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Chart caption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Dietary options offered</a:t>
            </a:r>
            <a:endParaRPr lang="en-US" sz="11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4572000" y="1280160"/>
          <a:ext cx="4206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Meal tile Breakfast"/>
          <p:cNvSpPr/>
          <p:nvPr/>
        </p:nvSpPr>
        <p:spPr>
          <a:xfrm>
            <a:off x="457200" y="3703320"/>
            <a:ext cx="1920240" cy="1005840"/>
          </a:xfrm>
          <a:prstGeom prst="roundRect">
            <a:avLst>
              <a:gd name="adj" fmla="val 5455"/>
            </a:avLst>
          </a:prstGeom>
          <a:solidFill>
            <a:schemeClr val="accent5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8" name="Meal icon Breakfast" descr="/home/claude/assets/ic_breakf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0"/>
            <a:ext cx="685800" cy="667512"/>
          </a:xfrm>
          <a:prstGeom prst="rect">
            <a:avLst/>
          </a:prstGeom>
        </p:spPr>
      </p:pic>
      <p:sp>
        <p:nvSpPr>
          <p:cNvPr id="9" name="Meal value Breakfast"/>
          <p:cNvSpPr txBox="1"/>
          <p:nvPr/>
        </p:nvSpPr>
        <p:spPr>
          <a:xfrm>
            <a:off x="1280160" y="379476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703</a:t>
            </a:r>
            <a:endParaRPr lang="en-US" sz="1800" dirty="0"/>
          </a:p>
        </p:txBody>
      </p:sp>
      <p:sp>
        <p:nvSpPr>
          <p:cNvPr id="10" name="Meal share Breakfast"/>
          <p:cNvSpPr txBox="1"/>
          <p:nvPr/>
        </p:nvSpPr>
        <p:spPr>
          <a:xfrm>
            <a:off x="1280160" y="4251960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7.6% of listings</a:t>
            </a:r>
            <a:endParaRPr lang="en-US" sz="900" dirty="0"/>
          </a:p>
        </p:txBody>
      </p:sp>
      <p:sp>
        <p:nvSpPr>
          <p:cNvPr id="11" name="Meal tile Lunch"/>
          <p:cNvSpPr/>
          <p:nvPr/>
        </p:nvSpPr>
        <p:spPr>
          <a:xfrm>
            <a:off x="2542032" y="3703320"/>
            <a:ext cx="1920240" cy="1005840"/>
          </a:xfrm>
          <a:prstGeom prst="roundRect">
            <a:avLst>
              <a:gd name="adj" fmla="val 5455"/>
            </a:avLst>
          </a:prstGeom>
          <a:solidFill>
            <a:schemeClr val="accent6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2" name="Meal icon Lunch" descr="/home/claude/assets/ic_lu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472" y="3840480"/>
            <a:ext cx="685800" cy="667512"/>
          </a:xfrm>
          <a:prstGeom prst="rect">
            <a:avLst/>
          </a:prstGeom>
        </p:spPr>
      </p:pic>
      <p:sp>
        <p:nvSpPr>
          <p:cNvPr id="13" name="Meal value Lunch"/>
          <p:cNvSpPr txBox="1"/>
          <p:nvPr/>
        </p:nvSpPr>
        <p:spPr>
          <a:xfrm>
            <a:off x="3364992" y="379476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2,223</a:t>
            </a:r>
            <a:endParaRPr lang="en-US" sz="1800" dirty="0"/>
          </a:p>
        </p:txBody>
      </p:sp>
      <p:sp>
        <p:nvSpPr>
          <p:cNvPr id="14" name="Meal share Lunch"/>
          <p:cNvSpPr txBox="1"/>
          <p:nvPr/>
        </p:nvSpPr>
        <p:spPr>
          <a:xfrm>
            <a:off x="3364992" y="4251960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23.9% of listings</a:t>
            </a:r>
            <a:endParaRPr lang="en-US" sz="900" dirty="0"/>
          </a:p>
        </p:txBody>
      </p:sp>
      <p:sp>
        <p:nvSpPr>
          <p:cNvPr id="15" name="Meal tile Dinner"/>
          <p:cNvSpPr/>
          <p:nvPr/>
        </p:nvSpPr>
        <p:spPr>
          <a:xfrm>
            <a:off x="4626864" y="3703320"/>
            <a:ext cx="1920240" cy="100584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6" name="Meal icon Dinner" descr="/home/claude/assets/ic_di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3840480"/>
            <a:ext cx="685800" cy="667512"/>
          </a:xfrm>
          <a:prstGeom prst="rect">
            <a:avLst/>
          </a:prstGeom>
        </p:spPr>
      </p:pic>
      <p:sp>
        <p:nvSpPr>
          <p:cNvPr id="17" name="Meal value Dinner"/>
          <p:cNvSpPr txBox="1"/>
          <p:nvPr/>
        </p:nvSpPr>
        <p:spPr>
          <a:xfrm>
            <a:off x="5449824" y="379476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2,313</a:t>
            </a:r>
            <a:endParaRPr lang="en-US" sz="1800" dirty="0"/>
          </a:p>
        </p:txBody>
      </p:sp>
      <p:sp>
        <p:nvSpPr>
          <p:cNvPr id="18" name="Meal share Dinner"/>
          <p:cNvSpPr txBox="1"/>
          <p:nvPr/>
        </p:nvSpPr>
        <p:spPr>
          <a:xfrm>
            <a:off x="5449824" y="4251960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24.9% of listings</a:t>
            </a:r>
            <a:endParaRPr lang="en-US" sz="900" dirty="0"/>
          </a:p>
        </p:txBody>
      </p:sp>
      <p:sp>
        <p:nvSpPr>
          <p:cNvPr id="19" name="Meal tile Brunch"/>
          <p:cNvSpPr/>
          <p:nvPr/>
        </p:nvSpPr>
        <p:spPr>
          <a:xfrm>
            <a:off x="6711696" y="3703320"/>
            <a:ext cx="1920240" cy="1005840"/>
          </a:xfrm>
          <a:prstGeom prst="roundRect">
            <a:avLst>
              <a:gd name="adj" fmla="val 5455"/>
            </a:avLst>
          </a:prstGeom>
          <a:solidFill>
            <a:schemeClr val="accent5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20" name="Meal icon Brunch" descr="/home/claude/assets/ic_brun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3136" y="3840480"/>
            <a:ext cx="685800" cy="667512"/>
          </a:xfrm>
          <a:prstGeom prst="rect">
            <a:avLst/>
          </a:prstGeom>
        </p:spPr>
      </p:pic>
      <p:sp>
        <p:nvSpPr>
          <p:cNvPr id="21" name="Meal value Brunch"/>
          <p:cNvSpPr txBox="1"/>
          <p:nvPr/>
        </p:nvSpPr>
        <p:spPr>
          <a:xfrm>
            <a:off x="7534656" y="379476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491</a:t>
            </a:r>
            <a:endParaRPr lang="en-US" sz="1800" dirty="0"/>
          </a:p>
        </p:txBody>
      </p:sp>
      <p:sp>
        <p:nvSpPr>
          <p:cNvPr id="22" name="Meal share Brunch"/>
          <p:cNvSpPr txBox="1"/>
          <p:nvPr/>
        </p:nvSpPr>
        <p:spPr>
          <a:xfrm>
            <a:off x="7534656" y="4251960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5.3% of listings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9718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400" name="Meal name Breakfast"/>
          <p:cNvSpPr txBox="1"/>
          <p:nvPr/>
        </p:nvSpPr>
        <p:spPr>
          <a:xfrm>
            <a:off x="488640" y="4505000"/>
            <a:ext cx="805800" cy="19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0B2A5B"/>
                </a:solidFill>
                <a:latin typeface="+mn-lt"/>
              </a:rPr>
              <a:t>Breakfast</a:t>
            </a:r>
            <a:endParaRPr lang="en-US" sz="800" b="1" dirty="0">
              <a:solidFill>
                <a:srgbClr val="0B2A5B"/>
              </a:solidFill>
              <a:latin typeface="+mn-lt"/>
            </a:endParaRPr>
          </a:p>
        </p:txBody>
      </p:sp>
      <p:sp>
        <p:nvSpPr>
          <p:cNvPr id="401" name="Meal name Lunch"/>
          <p:cNvSpPr txBox="1"/>
          <p:nvPr/>
        </p:nvSpPr>
        <p:spPr>
          <a:xfrm>
            <a:off x="2573472" y="4505000"/>
            <a:ext cx="805800" cy="19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0B2A5B"/>
                </a:solidFill>
                <a:latin typeface="+mn-lt"/>
              </a:rPr>
              <a:t>Lunch</a:t>
            </a:r>
            <a:endParaRPr lang="en-US" sz="800" b="1" dirty="0">
              <a:solidFill>
                <a:srgbClr val="0B2A5B"/>
              </a:solidFill>
              <a:latin typeface="+mn-lt"/>
            </a:endParaRPr>
          </a:p>
        </p:txBody>
      </p:sp>
      <p:sp>
        <p:nvSpPr>
          <p:cNvPr id="402" name="Meal name Dinner"/>
          <p:cNvSpPr txBox="1"/>
          <p:nvPr/>
        </p:nvSpPr>
        <p:spPr>
          <a:xfrm>
            <a:off x="4658304" y="4505000"/>
            <a:ext cx="805800" cy="19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0B2A5B"/>
                </a:solidFill>
                <a:latin typeface="+mn-lt"/>
              </a:rPr>
              <a:t>Dinner</a:t>
            </a:r>
            <a:endParaRPr lang="en-US" sz="800" b="1" dirty="0">
              <a:solidFill>
                <a:srgbClr val="0B2A5B"/>
              </a:solidFill>
              <a:latin typeface="+mn-lt"/>
            </a:endParaRPr>
          </a:p>
        </p:txBody>
      </p:sp>
      <p:sp>
        <p:nvSpPr>
          <p:cNvPr id="403" name="Meal name Brunch"/>
          <p:cNvSpPr txBox="1"/>
          <p:nvPr/>
        </p:nvSpPr>
        <p:spPr>
          <a:xfrm>
            <a:off x="6743136" y="4505000"/>
            <a:ext cx="805800" cy="19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0B2A5B"/>
                </a:solidFill>
                <a:latin typeface="+mn-lt"/>
              </a:rPr>
              <a:t>Brunch</a:t>
            </a:r>
            <a:endParaRPr lang="en-US" sz="800" b="1" dirty="0">
              <a:solidFill>
                <a:srgbClr val="0B2A5B"/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6"/>
            </a:gs>
            <a:gs pos="0">
              <a:schemeClr val="accent6">
                <a:lumMod val="25000"/>
                <a:lumOff val="75000"/>
              </a:schemeClr>
            </a:gs>
            <a:gs pos="100000">
              <a:schemeClr val="accent6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   </a:t>
            </a:r>
            <a:r>
              <a:rPr lang="en-US" sz="21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Most common features : </a:t>
            </a:r>
            <a:r>
              <a:rPr lang="en-US" sz="21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sym typeface="+mn-ea"/>
              </a:rPr>
              <a:t>Seating, Reservations and Table</a:t>
            </a:r>
            <a:endParaRPr lang="en-US" sz="21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3" name="Chart caption"/>
          <p:cNvSpPr txBox="1"/>
          <p:nvPr/>
        </p:nvSpPr>
        <p:spPr>
          <a:xfrm>
            <a:off x="457200" y="10515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Most common features (top 10, restaurants)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280160"/>
          <a:ext cx="50292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Feature tile Seating"/>
          <p:cNvSpPr/>
          <p:nvPr/>
        </p:nvSpPr>
        <p:spPr>
          <a:xfrm>
            <a:off x="5669280" y="1280160"/>
            <a:ext cx="3017520" cy="1005840"/>
          </a:xfrm>
          <a:prstGeom prst="roundRect">
            <a:avLst>
              <a:gd name="adj" fmla="val 5455"/>
            </a:avLst>
          </a:prstGeom>
          <a:solidFill>
            <a:schemeClr val="accent5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6" name="Feature icon Seating" descr="/home/claude/assets/ic_d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17320"/>
            <a:ext cx="777240" cy="731520"/>
          </a:xfrm>
          <a:prstGeom prst="rect">
            <a:avLst/>
          </a:prstGeom>
        </p:spPr>
      </p:pic>
      <p:sp>
        <p:nvSpPr>
          <p:cNvPr id="7" name="Feature value Seating"/>
          <p:cNvSpPr txBox="1"/>
          <p:nvPr/>
        </p:nvSpPr>
        <p:spPr>
          <a:xfrm>
            <a:off x="6629400" y="13716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1,369</a:t>
            </a:r>
            <a:endParaRPr lang="en-US" sz="2000" dirty="0"/>
          </a:p>
        </p:txBody>
      </p:sp>
      <p:sp>
        <p:nvSpPr>
          <p:cNvPr id="8" name="Feature label Seating"/>
          <p:cNvSpPr txBox="1"/>
          <p:nvPr/>
        </p:nvSpPr>
        <p:spPr>
          <a:xfrm>
            <a:off x="6629400" y="1828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tx1"/>
                </a:solidFill>
              </a:rPr>
              <a:t>Seating (14.7% of listings)</a:t>
            </a:r>
            <a:endParaRPr lang="en-US" sz="950" dirty="0"/>
          </a:p>
        </p:txBody>
      </p:sp>
      <p:sp>
        <p:nvSpPr>
          <p:cNvPr id="9" name="Feature tile Reservations"/>
          <p:cNvSpPr/>
          <p:nvPr/>
        </p:nvSpPr>
        <p:spPr>
          <a:xfrm>
            <a:off x="5669280" y="2423160"/>
            <a:ext cx="3017520" cy="1005840"/>
          </a:xfrm>
          <a:prstGeom prst="roundRect">
            <a:avLst>
              <a:gd name="adj" fmla="val 5455"/>
            </a:avLst>
          </a:prstGeom>
          <a:solidFill>
            <a:schemeClr val="accent6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0" name="Feature icon Reservations" descr="/home/claude/assets/ic_rese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560320"/>
            <a:ext cx="777240" cy="731520"/>
          </a:xfrm>
          <a:prstGeom prst="rect">
            <a:avLst/>
          </a:prstGeom>
        </p:spPr>
      </p:pic>
      <p:sp>
        <p:nvSpPr>
          <p:cNvPr id="11" name="Feature value Reservations"/>
          <p:cNvSpPr txBox="1"/>
          <p:nvPr/>
        </p:nvSpPr>
        <p:spPr>
          <a:xfrm>
            <a:off x="6629400" y="25146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1,165</a:t>
            </a:r>
            <a:endParaRPr lang="en-US" sz="2000" dirty="0"/>
          </a:p>
        </p:txBody>
      </p:sp>
      <p:sp>
        <p:nvSpPr>
          <p:cNvPr id="12" name="Feature label Reservations"/>
          <p:cNvSpPr txBox="1"/>
          <p:nvPr/>
        </p:nvSpPr>
        <p:spPr>
          <a:xfrm>
            <a:off x="6629400" y="2971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tx1"/>
                </a:solidFill>
              </a:rPr>
              <a:t>Reservations (12.5% of listings)</a:t>
            </a:r>
            <a:endParaRPr lang="en-US" sz="950" dirty="0"/>
          </a:p>
        </p:txBody>
      </p:sp>
      <p:sp>
        <p:nvSpPr>
          <p:cNvPr id="13" name="Feature tile Takeout"/>
          <p:cNvSpPr/>
          <p:nvPr/>
        </p:nvSpPr>
        <p:spPr>
          <a:xfrm>
            <a:off x="5669280" y="3566160"/>
            <a:ext cx="3017520" cy="100584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4" name="Feature icon Takeout" descr="/home/claude/assets/ic_take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703320"/>
            <a:ext cx="777240" cy="731520"/>
          </a:xfrm>
          <a:prstGeom prst="rect">
            <a:avLst/>
          </a:prstGeom>
        </p:spPr>
      </p:pic>
      <p:sp>
        <p:nvSpPr>
          <p:cNvPr id="15" name="Feature value Takeout"/>
          <p:cNvSpPr txBox="1"/>
          <p:nvPr/>
        </p:nvSpPr>
        <p:spPr>
          <a:xfrm>
            <a:off x="6629400" y="36576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826</a:t>
            </a:r>
            <a:endParaRPr lang="en-US" sz="2000" dirty="0"/>
          </a:p>
        </p:txBody>
      </p:sp>
      <p:sp>
        <p:nvSpPr>
          <p:cNvPr id="16" name="Feature label Takeout"/>
          <p:cNvSpPr txBox="1"/>
          <p:nvPr/>
        </p:nvSpPr>
        <p:spPr>
          <a:xfrm>
            <a:off x="6629400" y="4114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tx1"/>
                </a:solidFill>
              </a:rPr>
              <a:t>Takeout (8.9% of listings)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9718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40690" y="365760"/>
            <a:ext cx="447484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100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sz="21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sym typeface="+mn-ea"/>
              </a:rPr>
              <a:t>Business Recommendations</a:t>
            </a:r>
            <a:endParaRPr lang="en-US" altLang="en-US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-635" y="1146175"/>
            <a:ext cx="9144635" cy="3838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AutoNum type="arabicPeriod"/>
            </a:pPr>
            <a:r>
              <a:rPr lang="en-US" altLang="en-US" sz="2000" b="1"/>
              <a:t>Location strategy : According to analysis,</a:t>
            </a:r>
            <a:endParaRPr lang="en-US" altLang="en-US" sz="20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600" b="1"/>
              <a:t>Established market strategy - 560001, 560025 , and 560008 . </a:t>
            </a:r>
            <a:endParaRPr lang="en-US" altLang="en-US" sz="16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600" b="1"/>
              <a:t>Low competitation strategy - 560014 , 560081 and 560106 .  </a:t>
            </a:r>
            <a:endParaRPr lang="en-US" altLang="en-US" sz="16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600" b="1"/>
              <a:t>SPECIAL  - PINCODE 562128  with 1 restaurants listing and  with 219 reviews  .</a:t>
            </a:r>
            <a:endParaRPr lang="en-US" altLang="en-US" sz="1600" b="1"/>
          </a:p>
          <a:p>
            <a:pPr indent="0">
              <a:buNone/>
            </a:pPr>
            <a:endParaRPr lang="en-US" altLang="en-US" sz="2000" b="1"/>
          </a:p>
          <a:p>
            <a:pPr indent="0">
              <a:buNone/>
            </a:pPr>
            <a:r>
              <a:rPr lang="en-US" altLang="en-US" sz="2000" b="1"/>
              <a:t>2. Suggestion on cuisine : Indian is the most common cuisine.</a:t>
            </a:r>
            <a:endParaRPr lang="en-US" altLang="en-US" sz="2000" b="1"/>
          </a:p>
          <a:p>
            <a:pPr indent="0">
              <a:buNone/>
            </a:pPr>
            <a:endParaRPr lang="en-US" altLang="en-US" sz="2000" b="1"/>
          </a:p>
          <a:p>
            <a:pPr indent="0">
              <a:buNone/>
            </a:pPr>
            <a:r>
              <a:rPr lang="en-US" altLang="en-US" sz="2000" b="1"/>
              <a:t>3. Customer attraction : Restaurants can offer reservations,takeout,delivery,vegetarian-friendly food options,coupons to attract customers.</a:t>
            </a:r>
            <a:endParaRPr lang="en-US" altLang="en-US" sz="2000" b="1"/>
          </a:p>
          <a:p>
            <a:pPr indent="0">
              <a:buNone/>
            </a:pPr>
            <a:endParaRPr lang="en-US" altLang="en-US" sz="2000" b="1"/>
          </a:p>
          <a:p>
            <a:pPr indent="0">
              <a:buNone/>
            </a:pPr>
            <a:endParaRPr lang="en-US" b="1"/>
          </a:p>
        </p:txBody>
      </p:sp>
      <p:pic>
        <p:nvPicPr>
          <p:cNvPr id="305" name="Market Overview icon" descr="Market Overview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4305" y="137160"/>
            <a:ext cx="795655" cy="795655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308" name="Cuisine &amp; Quality icon" descr="Cuisine &amp; Quality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132715"/>
            <a:ext cx="800100" cy="800100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311" name="Services &amp; Features icon" descr="Services &amp; Feature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115" y="132715"/>
            <a:ext cx="838200" cy="838200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5"/>
            </a:gs>
            <a:gs pos="0">
              <a:schemeClr val="accent5">
                <a:lumMod val="25000"/>
                <a:lumOff val="75000"/>
              </a:schemeClr>
            </a:gs>
            <a:gs pos="100000">
              <a:schemeClr val="accent5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 316"/>
          <p:cNvSpPr txBox="1"/>
          <p:nvPr/>
        </p:nvSpPr>
        <p:spPr>
          <a:xfrm>
            <a:off x="457200" y="1500000"/>
            <a:ext cx="3017520" cy="1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60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Lucida Calligraphy" panose="03010101010101010101" charset="0"/>
                <a:cs typeface="Lucida Calligraphy" panose="03010101010101010101" charset="0"/>
              </a:rPr>
              <a:t>Thank</a:t>
            </a:r>
            <a:endParaRPr lang="en-US" sz="6000" b="1" dirty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Lucida Calligraphy" panose="03010101010101010101" charset="0"/>
              <a:cs typeface="Lucida Calligraphy" panose="03010101010101010101" charset="0"/>
            </a:endParaRPr>
          </a:p>
          <a:p>
            <a:pPr algn="l">
              <a:buNone/>
            </a:pPr>
            <a:r>
              <a:rPr lang="en-US" sz="60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Lucida Calligraphy" panose="03010101010101010101" charset="0"/>
                <a:cs typeface="Lucida Calligraphy" panose="03010101010101010101" charset="0"/>
              </a:rPr>
              <a:t>You</a:t>
            </a:r>
            <a:endParaRPr lang="en-US" sz="6000" b="1" dirty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Lucida Calligraphy" panose="03010101010101010101" charset="0"/>
              <a:cs typeface="Lucida Calligraphy" panose="03010101010101010101" charset="0"/>
            </a:endParaRPr>
          </a:p>
        </p:txBody>
      </p:sp>
      <p:sp>
        <p:nvSpPr>
          <p:cNvPr id="317" name="Text 317"/>
          <p:cNvSpPr txBox="1"/>
          <p:nvPr/>
        </p:nvSpPr>
        <p:spPr>
          <a:xfrm>
            <a:off x="457200" y="4500000"/>
            <a:ext cx="3017520" cy="30000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algn="l">
              <a:buNone/>
            </a:pPr>
            <a:r>
              <a:rPr lang="en-US" sz="1000" b="0" dirty="0">
                <a:solidFill>
                  <a:srgbClr val="9DBFE6"/>
                </a:solidFill>
                <a:latin typeface="+mn-lt"/>
              </a:rPr>
              <a:t>Team B327   |   October 2026</a:t>
            </a:r>
            <a:endParaRPr lang="en-US" sz="1000" b="0" dirty="0">
              <a:solidFill>
                <a:srgbClr val="9DBFE6"/>
              </a:solidFill>
              <a:latin typeface="+mn-lt"/>
            </a:endParaRPr>
          </a:p>
        </p:txBody>
      </p:sp>
      <p:sp>
        <p:nvSpPr>
          <p:cNvPr id="318" name="Shape 318"/>
          <p:cNvSpPr/>
          <p:nvPr/>
        </p:nvSpPr>
        <p:spPr>
          <a:xfrm>
            <a:off x="5646520" y="500000"/>
            <a:ext cx="1600000" cy="1600000"/>
          </a:xfrm>
          <a:prstGeom prst="ellipse">
            <a:avLst/>
          </a:prstGeom>
          <a:solidFill>
            <a:srgbClr val="D6E9F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19" name="Cuisine &amp; Quality icon" descr="Cuisine &amp; Quality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520" y="620000"/>
            <a:ext cx="1360000" cy="1360000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320" name="Shape 320"/>
          <p:cNvSpPr/>
          <p:nvPr/>
        </p:nvSpPr>
        <p:spPr>
          <a:xfrm>
            <a:off x="4496520" y="1900000"/>
            <a:ext cx="1300000" cy="1300000"/>
          </a:xfrm>
          <a:prstGeom prst="ellipse">
            <a:avLst/>
          </a:prstGeom>
          <a:solidFill>
            <a:srgbClr val="D6E9FB"/>
          </a:solidFill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/>
        </p:txBody>
      </p:sp>
      <p:pic>
        <p:nvPicPr>
          <p:cNvPr id="321" name="Market Overview icon" descr="Market Overview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520" y="2000000"/>
            <a:ext cx="1100000" cy="1100000"/>
          </a:xfrm>
          <a:prstGeom prst="rect">
            <a:avLst/>
          </a:prstGeom>
        </p:spPr>
      </p:pic>
      <p:sp>
        <p:nvSpPr>
          <p:cNvPr id="322" name="Shape 322"/>
          <p:cNvSpPr/>
          <p:nvPr/>
        </p:nvSpPr>
        <p:spPr>
          <a:xfrm>
            <a:off x="7096520" y="1900000"/>
            <a:ext cx="1300000" cy="1300000"/>
          </a:xfrm>
          <a:prstGeom prst="ellipse">
            <a:avLst/>
          </a:prstGeom>
          <a:solidFill>
            <a:srgbClr val="D6E9F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23" name="Services &amp; Features icon" descr="Services &amp; Feature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520" y="2000000"/>
            <a:ext cx="1100000" cy="1100000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325" name="Text 325"/>
          <p:cNvSpPr txBox="1"/>
          <p:nvPr/>
        </p:nvSpPr>
        <p:spPr>
          <a:xfrm>
            <a:off x="4206240" y="3450000"/>
            <a:ext cx="4480560" cy="4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0B2A5B"/>
                </a:solidFill>
                <a:latin typeface="+mn-lt"/>
              </a:rPr>
              <a:t>Market Overview   ·   Cuisine &amp; Quality   ·   Services &amp; Features</a:t>
            </a:r>
            <a:endParaRPr lang="en-US" sz="1000" b="1" dirty="0">
              <a:solidFill>
                <a:srgbClr val="0B2A5B"/>
              </a:solidFill>
              <a:latin typeface="+mn-lt"/>
            </a:endParaRPr>
          </a:p>
        </p:txBody>
      </p:sp>
      <p:sp>
        <p:nvSpPr>
          <p:cNvPr id="326" name="Text 326"/>
          <p:cNvSpPr txBox="1"/>
          <p:nvPr/>
        </p:nvSpPr>
        <p:spPr>
          <a:xfrm>
            <a:off x="4182745" y="4275455"/>
            <a:ext cx="4961255" cy="8045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sz="1700" b="1">
                <a:solidFill>
                  <a:srgbClr val="11305B"/>
                </a:solidFill>
                <a:latin typeface="Aptos"/>
              </a:rPr>
              <a:t> Team B327  |  </a:t>
            </a:r>
            <a:r>
              <a:rPr lang="en-US" sz="1700" b="1">
                <a:solidFill>
                  <a:srgbClr val="11305B"/>
                </a:solidFill>
                <a:latin typeface="Aptos"/>
              </a:rPr>
              <a:t>Bangalore_restaurants</a:t>
            </a:r>
            <a:endParaRPr lang="en-US" sz="1700" b="1">
              <a:solidFill>
                <a:srgbClr val="11305B"/>
              </a:solidFill>
              <a:latin typeface="Aptos"/>
            </a:endParaRPr>
          </a:p>
        </p:txBody>
      </p:sp>
      <p:sp>
        <p:nvSpPr>
          <p:cNvPr id="327" name="Text 327"/>
          <p:cNvSpPr txBox="1"/>
          <p:nvPr/>
        </p:nvSpPr>
        <p:spPr>
          <a:xfrm>
            <a:off x="6522085" y="4300220"/>
            <a:ext cx="2164715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theme/theme1.xml><?xml version="1.0" encoding="utf-8"?>
<a:theme xmlns:a="http://schemas.openxmlformats.org/drawingml/2006/main" name="Bengaluru Restaurants">
  <a:themeElements>
    <a:clrScheme name="Navy Sky Sun">
      <a:dk1>
        <a:srgbClr val="0B2A5B"/>
      </a:dk1>
      <a:lt1>
        <a:srgbClr val="FFFFFF"/>
      </a:lt1>
      <a:dk2>
        <a:srgbClr val="0A2347"/>
      </a:dk2>
      <a:lt2>
        <a:srgbClr val="EAF3FC"/>
      </a:lt2>
      <a:accent1>
        <a:srgbClr val="2F6FCF"/>
      </a:accent1>
      <a:accent2>
        <a:srgbClr val="FFC928"/>
      </a:accent2>
      <a:accent3>
        <a:srgbClr val="8CC4F2"/>
      </a:accent3>
      <a:accent4>
        <a:srgbClr val="9DBFE6"/>
      </a:accent4>
      <a:accent5>
        <a:srgbClr val="FFF0B8"/>
      </a:accent5>
      <a:accent6>
        <a:srgbClr val="D6E9FB"/>
      </a:accent6>
      <a:hlink>
        <a:srgbClr val="2F6FCF"/>
      </a:hlink>
      <a:folHlink>
        <a:srgbClr val="5B7BA8"/>
      </a:folHlink>
    </a:clrScheme>
    <a:fontScheme name="Bengaluru Restaurant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engaluru Restaurants">
  <a:themeElements>
    <a:clrScheme name="Navy Sky Sun">
      <a:dk1>
        <a:srgbClr val="0B2A5B"/>
      </a:dk1>
      <a:lt1>
        <a:srgbClr val="FFFFFF"/>
      </a:lt1>
      <a:dk2>
        <a:srgbClr val="0A2347"/>
      </a:dk2>
      <a:lt2>
        <a:srgbClr val="EAF3FC"/>
      </a:lt2>
      <a:accent1>
        <a:srgbClr val="2F6FCF"/>
      </a:accent1>
      <a:accent2>
        <a:srgbClr val="FFC928"/>
      </a:accent2>
      <a:accent3>
        <a:srgbClr val="8CC4F2"/>
      </a:accent3>
      <a:accent4>
        <a:srgbClr val="9DBFE6"/>
      </a:accent4>
      <a:accent5>
        <a:srgbClr val="FFF0B8"/>
      </a:accent5>
      <a:accent6>
        <a:srgbClr val="D6E9FB"/>
      </a:accent6>
      <a:hlink>
        <a:srgbClr val="2F6FCF"/>
      </a:hlink>
      <a:folHlink>
        <a:srgbClr val="5B7BA8"/>
      </a:folHlink>
    </a:clrScheme>
    <a:fontScheme name="Bengaluru Restaurant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2420</Words>
  <Application>WPS Presentation</Application>
  <PresentationFormat>On-screen Show (16:9)</PresentationFormat>
  <Paragraphs>240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Aptos Display</vt:lpstr>
      <vt:lpstr>Segoe UI Variable Display</vt:lpstr>
      <vt:lpstr>Aptos</vt:lpstr>
      <vt:lpstr>Lucida Calligraphy</vt:lpstr>
      <vt:lpstr>Segoe UI</vt:lpstr>
      <vt:lpstr>Microsoft YaHei</vt:lpstr>
      <vt:lpstr>Arial Unicode MS</vt:lpstr>
      <vt:lpstr>Bengaluru Restaurants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Bengaluru Restaurants: What the Data Says</dc:title>
  <dc:creator>PptxGenJS</dc:creator>
  <dc:subject>PptxGenJS Presentation</dc:subject>
  <cp:lastModifiedBy>Shubhal Gupta</cp:lastModifiedBy>
  <cp:revision>12</cp:revision>
  <dcterms:created xsi:type="dcterms:W3CDTF">2026-10-15T10:50:00Z</dcterms:created>
  <dcterms:modified xsi:type="dcterms:W3CDTF">2026-10-23T22:30:07Z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17E0D117C13E4DFF8AE053602DE8E3B5_13</vt:lpwstr>
  </property>
</Properties>
</file>